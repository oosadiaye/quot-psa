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0" r:id="rId15"/>
    <p:sldId id="271" r:id="rId16"/>
    <p:sldId id="272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7" d="100"/>
          <a:sy n="97" d="100"/>
        </p:scale>
        <p:origin x="16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827562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2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4C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85455" y="-2286000"/>
            <a:ext cx="5486400" cy="5486400"/>
          </a:xfrm>
          <a:prstGeom prst="ellipse">
            <a:avLst/>
          </a:prstGeom>
          <a:solidFill>
            <a:srgbClr val="0F4C3A"/>
          </a:solidFill>
          <a:ln w="50800">
            <a:solidFill>
              <a:srgbClr val="D4A57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265615" y="-1005840"/>
            <a:ext cx="3017520" cy="3017520"/>
          </a:xfrm>
          <a:prstGeom prst="ellipse">
            <a:avLst/>
          </a:prstGeom>
          <a:solidFill>
            <a:srgbClr val="1B7A5A"/>
          </a:solidFill>
          <a:ln w="12700">
            <a:solidFill>
              <a:srgbClr val="1B7A5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693408"/>
            <a:ext cx="4114800" cy="164592"/>
          </a:xfrm>
          <a:prstGeom prst="rect">
            <a:avLst/>
          </a:prstGeom>
          <a:solidFill>
            <a:srgbClr val="D4A574"/>
          </a:solidFill>
          <a:ln w="12700">
            <a:solidFill>
              <a:srgbClr val="D4A57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 smtClean="0">
                <a:solidFill>
                  <a:schemeClr val="bg2"/>
                </a:solidFill>
              </a:rPr>
              <a:t>DPLUX TECHNOLOGIES</a:t>
            </a:r>
            <a:endParaRPr lang="en-US" sz="3200" b="1" dirty="0">
              <a:solidFill>
                <a:schemeClr val="bg2"/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502920" y="182880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Quot PSA</a:t>
            </a:r>
            <a:endParaRPr lang="en-US" sz="8000" dirty="0"/>
          </a:p>
        </p:txBody>
      </p:sp>
      <p:sp>
        <p:nvSpPr>
          <p:cNvPr id="7" name="Text 5"/>
          <p:cNvSpPr/>
          <p:nvPr/>
        </p:nvSpPr>
        <p:spPr>
          <a:xfrm>
            <a:off x="502920" y="3383280"/>
            <a:ext cx="7863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7F4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Public Sector Accounting Platform purpose-built for the IFMIS framework, IPSAS reporting, and the Treasury Single Account.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02920" y="4846320"/>
            <a:ext cx="54864" cy="1280160"/>
          </a:xfrm>
          <a:prstGeom prst="rect">
            <a:avLst/>
          </a:prstGeom>
          <a:solidFill>
            <a:srgbClr val="D4A574"/>
          </a:solidFill>
          <a:ln w="12700">
            <a:solidFill>
              <a:srgbClr val="D4A57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04088" y="510235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Office of the Accountant General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704088" y="55321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7F4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Delta State Government Secretariat, Asaba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04088" y="58704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 Jacob Osadiaye  ·  Dplux Technologies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F4C3A"/>
          </a:solidFill>
          <a:ln w="12700">
            <a:solidFill>
              <a:srgbClr val="0F4C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488375" y="36576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kern="0" spc="1200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02920" y="868680"/>
            <a:ext cx="1118585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4C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 will cover today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48640" y="1911096"/>
            <a:ext cx="384048" cy="384048"/>
          </a:xfrm>
          <a:prstGeom prst="ellipse">
            <a:avLst/>
          </a:prstGeom>
          <a:solidFill>
            <a:srgbClr val="0F4C3A"/>
          </a:solidFill>
          <a:ln w="12700">
            <a:solidFill>
              <a:srgbClr val="0F4C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9110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4A57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51560" y="1856232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Dplux Technologies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51560" y="2093976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we are and what we have shipped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48640" y="2414016"/>
            <a:ext cx="384048" cy="384048"/>
          </a:xfrm>
          <a:prstGeom prst="ellipse">
            <a:avLst/>
          </a:prstGeom>
          <a:solidFill>
            <a:srgbClr val="0F4C3A"/>
          </a:solidFill>
          <a:ln w="12700">
            <a:solidFill>
              <a:srgbClr val="0F4C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4140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4A57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51560" y="2359152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control problem in public-sector accounting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51560" y="2596896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off-the-shelf ERP cannot satisfy IFMIS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48640" y="2916936"/>
            <a:ext cx="384048" cy="384048"/>
          </a:xfrm>
          <a:prstGeom prst="ellipse">
            <a:avLst/>
          </a:prstGeom>
          <a:solidFill>
            <a:srgbClr val="0F4C3A"/>
          </a:solidFill>
          <a:ln w="12700">
            <a:solidFill>
              <a:srgbClr val="0F4C3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2916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4A57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51560" y="2862072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 PSA — the platform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51560" y="3099816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Architecture, modules, and statutory alignment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3419856"/>
            <a:ext cx="384048" cy="384048"/>
          </a:xfrm>
          <a:prstGeom prst="ellipse">
            <a:avLst/>
          </a:prstGeom>
          <a:solidFill>
            <a:srgbClr val="0F4C3A"/>
          </a:solidFill>
          <a:ln w="12700">
            <a:solidFill>
              <a:srgbClr val="0F4C3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34198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4A57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051560" y="3364992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Treasury Single Account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051560" y="3602736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TSA hierarchy, sub-accounts, and reconciliation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48640" y="3922776"/>
            <a:ext cx="384048" cy="384048"/>
          </a:xfrm>
          <a:prstGeom prst="ellipse">
            <a:avLst/>
          </a:prstGeom>
          <a:solidFill>
            <a:srgbClr val="0F4C3A"/>
          </a:solidFill>
          <a:ln w="12700">
            <a:solidFill>
              <a:srgbClr val="0F4C3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39227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4A57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051560" y="3867912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control &amp; commitment accounting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051560" y="4105656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Appropriation gating, warrants, virements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548640" y="4425696"/>
            <a:ext cx="384048" cy="384048"/>
          </a:xfrm>
          <a:prstGeom prst="ellipse">
            <a:avLst/>
          </a:prstGeom>
          <a:solidFill>
            <a:srgbClr val="0F4C3A"/>
          </a:solidFill>
          <a:ln w="12700">
            <a:solidFill>
              <a:srgbClr val="0F4C3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8640" y="44256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4A57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051560" y="4370832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— IPSAS, GFS 2014, OAGF returns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051560" y="4608576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statutory reports out of the box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548640" y="4928616"/>
            <a:ext cx="384048" cy="384048"/>
          </a:xfrm>
          <a:prstGeom prst="ellipse">
            <a:avLst/>
          </a:prstGeom>
          <a:solidFill>
            <a:srgbClr val="0F4C3A"/>
          </a:solidFill>
          <a:ln w="12700">
            <a:solidFill>
              <a:srgbClr val="0F4C3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48640" y="49286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4A57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1051560" y="4873752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Security, audit &amp; Segregation of Duties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1051560" y="5111496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Multi-tenancy, RBAC, SoD, MFA, full audit trail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548640" y="5431536"/>
            <a:ext cx="384048" cy="384048"/>
          </a:xfrm>
          <a:prstGeom prst="ellipse">
            <a:avLst/>
          </a:prstGeom>
          <a:solidFill>
            <a:srgbClr val="0F4C3A"/>
          </a:solidFill>
          <a:ln w="12700">
            <a:solidFill>
              <a:srgbClr val="0F4C3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48640" y="54315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4A57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1051560" y="5376672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Delta State pilot &amp; next steps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1051560" y="5614416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Scope, timeline, and success criteria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8991295" y="1737360"/>
            <a:ext cx="2697480" cy="4297680"/>
          </a:xfrm>
          <a:prstGeom prst="rect">
            <a:avLst/>
          </a:prstGeom>
          <a:solidFill>
            <a:srgbClr val="0F4C3A"/>
          </a:solidFill>
          <a:ln w="12700">
            <a:solidFill>
              <a:srgbClr val="0F4C3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128455" y="18745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0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at a glance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9128455" y="233172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18 min</a:t>
            </a:r>
            <a:endParaRPr lang="en-US" sz="3600" dirty="0"/>
          </a:p>
        </p:txBody>
      </p:sp>
      <p:sp>
        <p:nvSpPr>
          <p:cNvPr id="42" name="Text 40"/>
          <p:cNvSpPr/>
          <p:nvPr/>
        </p:nvSpPr>
        <p:spPr>
          <a:xfrm>
            <a:off x="9128455" y="297180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7F4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Briefing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9128455" y="352044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 min</a:t>
            </a:r>
            <a:endParaRPr lang="en-US" sz="3600" dirty="0"/>
          </a:p>
        </p:txBody>
      </p:sp>
      <p:sp>
        <p:nvSpPr>
          <p:cNvPr id="44" name="Text 42"/>
          <p:cNvSpPr/>
          <p:nvPr/>
        </p:nvSpPr>
        <p:spPr>
          <a:xfrm>
            <a:off x="9128455" y="416052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7F4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9128455" y="470916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Open</a:t>
            </a:r>
            <a:endParaRPr lang="en-US" sz="3600" dirty="0"/>
          </a:p>
        </p:txBody>
      </p:sp>
      <p:sp>
        <p:nvSpPr>
          <p:cNvPr id="46" name="Text 44"/>
          <p:cNvSpPr/>
          <p:nvPr/>
        </p:nvSpPr>
        <p:spPr>
          <a:xfrm>
            <a:off x="9128455" y="534924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7F4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&amp; A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502920" y="6473952"/>
            <a:ext cx="11185855" cy="0"/>
          </a:xfrm>
          <a:prstGeom prst="line">
            <a:avLst/>
          </a:prstGeom>
          <a:noFill/>
          <a:ln w="9525">
            <a:solidFill>
              <a:srgbClr val="D6CFB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02920" y="652881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Dplux Technologies   ·   Quot PSA Briefing   ·   Presented by Jacob Osadiaye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11323015" y="65288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F4C3A"/>
          </a:solidFill>
          <a:ln w="12700">
            <a:solidFill>
              <a:srgbClr val="0F4C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488375" y="36576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kern="0" spc="1200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WE ARE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02920" y="868680"/>
            <a:ext cx="1118585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4C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Dplux Technologies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02920" y="1874520"/>
            <a:ext cx="5760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450" dirty="0">
                <a:solidFill>
                  <a:srgbClr val="1A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Dplux Technologies is a Nigerian software engineering firm that builds mission-critical platforms for finance, government, and regulated industries. We specialise in the kind of systems where a quiet failure is the worst kind of failure — treasuries, accounting back-offices, healthcare records, and procurement controls.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02920" y="3520440"/>
            <a:ext cx="457200" cy="457200"/>
          </a:xfrm>
          <a:prstGeom prst="ellipse">
            <a:avLst/>
          </a:prstGeom>
          <a:solidFill>
            <a:srgbClr val="0F4C3A"/>
          </a:solidFill>
          <a:ln w="12700">
            <a:solidFill>
              <a:srgbClr val="0F4C3A"/>
            </a:solidFill>
            <a:prstDash val="solid"/>
          </a:ln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5790" y="3623310"/>
            <a:ext cx="251460" cy="25146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143000" y="352044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Domain-first engineering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143000" y="37947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model the regulation before we model the database.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502920" y="4389120"/>
            <a:ext cx="457200" cy="457200"/>
          </a:xfrm>
          <a:prstGeom prst="ellipse">
            <a:avLst/>
          </a:prstGeom>
          <a:solidFill>
            <a:srgbClr val="0F4C3A"/>
          </a:solidFill>
          <a:ln w="12700">
            <a:solidFill>
              <a:srgbClr val="0F4C3A"/>
            </a:solidFill>
            <a:prstDash val="solid"/>
          </a:ln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5790" y="4491990"/>
            <a:ext cx="251460" cy="25146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143000" y="438912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Audit-grade traceability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1143000" y="466344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change is attributable. No silent failures.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502920" y="5257800"/>
            <a:ext cx="457200" cy="457200"/>
          </a:xfrm>
          <a:prstGeom prst="ellipse">
            <a:avLst/>
          </a:prstGeom>
          <a:solidFill>
            <a:srgbClr val="0F4C3A"/>
          </a:solidFill>
          <a:ln w="12700">
            <a:solidFill>
              <a:srgbClr val="0F4C3A"/>
            </a:solidFill>
            <a:prstDash val="solid"/>
          </a:ln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5790" y="5360670"/>
            <a:ext cx="251460" cy="25146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143000" y="525780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Operator-ready delivery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1143000" y="553212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Runbooks, DR drills, and training included.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6842455" y="1874520"/>
            <a:ext cx="4846320" cy="4160520"/>
          </a:xfrm>
          <a:prstGeom prst="rect">
            <a:avLst/>
          </a:prstGeom>
          <a:solidFill>
            <a:srgbClr val="0F4C3A"/>
          </a:solidFill>
          <a:ln w="12700">
            <a:solidFill>
              <a:srgbClr val="0F4C3A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7162495" y="2011680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800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A GLANCE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7116775" y="2468880"/>
            <a:ext cx="2194560" cy="1691640"/>
          </a:xfrm>
          <a:prstGeom prst="rect">
            <a:avLst/>
          </a:prstGeom>
          <a:solidFill>
            <a:srgbClr val="1B7A5A"/>
          </a:solidFill>
          <a:ln w="12700">
            <a:solidFill>
              <a:srgbClr val="1B7A5A"/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7253935" y="260604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D4A57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7+</a:t>
            </a:r>
            <a:endParaRPr lang="en-US" sz="3200" dirty="0"/>
          </a:p>
        </p:txBody>
      </p:sp>
      <p:sp>
        <p:nvSpPr>
          <p:cNvPr id="24" name="Text 19"/>
          <p:cNvSpPr/>
          <p:nvPr/>
        </p:nvSpPr>
        <p:spPr>
          <a:xfrm>
            <a:off x="7253935" y="324612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Years building</a:t>
            </a:r>
            <a:endParaRPr lang="en-US" sz="1200" dirty="0"/>
          </a:p>
        </p:txBody>
      </p:sp>
      <p:sp>
        <p:nvSpPr>
          <p:cNvPr id="25" name="Text 20"/>
          <p:cNvSpPr/>
          <p:nvPr/>
        </p:nvSpPr>
        <p:spPr>
          <a:xfrm>
            <a:off x="7253935" y="35204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7F4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mission-critical systems</a:t>
            </a:r>
            <a:endParaRPr lang="en-US" sz="1050" dirty="0"/>
          </a:p>
        </p:txBody>
      </p:sp>
      <p:sp>
        <p:nvSpPr>
          <p:cNvPr id="26" name="Shape 21"/>
          <p:cNvSpPr/>
          <p:nvPr/>
        </p:nvSpPr>
        <p:spPr>
          <a:xfrm>
            <a:off x="9402775" y="2468880"/>
            <a:ext cx="2194560" cy="1691640"/>
          </a:xfrm>
          <a:prstGeom prst="rect">
            <a:avLst/>
          </a:prstGeom>
          <a:solidFill>
            <a:srgbClr val="1B7A5A"/>
          </a:solidFill>
          <a:ln w="12700">
            <a:solidFill>
              <a:srgbClr val="1B7A5A"/>
            </a:solidFill>
            <a:prstDash val="solid"/>
          </a:ln>
        </p:spPr>
      </p:sp>
      <p:sp>
        <p:nvSpPr>
          <p:cNvPr id="27" name="Text 22"/>
          <p:cNvSpPr/>
          <p:nvPr/>
        </p:nvSpPr>
        <p:spPr>
          <a:xfrm>
            <a:off x="9539935" y="260604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D4A57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20+</a:t>
            </a:r>
            <a:endParaRPr lang="en-US" sz="3200" dirty="0"/>
          </a:p>
        </p:txBody>
      </p:sp>
      <p:sp>
        <p:nvSpPr>
          <p:cNvPr id="28" name="Text 23"/>
          <p:cNvSpPr/>
          <p:nvPr/>
        </p:nvSpPr>
        <p:spPr>
          <a:xfrm>
            <a:off x="9539935" y="324612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modules</a:t>
            </a:r>
            <a:endParaRPr lang="en-US" sz="1200" dirty="0"/>
          </a:p>
        </p:txBody>
      </p:sp>
      <p:sp>
        <p:nvSpPr>
          <p:cNvPr id="29" name="Text 24"/>
          <p:cNvSpPr/>
          <p:nvPr/>
        </p:nvSpPr>
        <p:spPr>
          <a:xfrm>
            <a:off x="9539935" y="35204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7F4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shipped in Quot PSA alone</a:t>
            </a:r>
            <a:endParaRPr lang="en-US" sz="1050" dirty="0"/>
          </a:p>
        </p:txBody>
      </p:sp>
      <p:sp>
        <p:nvSpPr>
          <p:cNvPr id="30" name="Shape 25"/>
          <p:cNvSpPr/>
          <p:nvPr/>
        </p:nvSpPr>
        <p:spPr>
          <a:xfrm>
            <a:off x="7116775" y="4251960"/>
            <a:ext cx="2194560" cy="1691640"/>
          </a:xfrm>
          <a:prstGeom prst="rect">
            <a:avLst/>
          </a:prstGeom>
          <a:solidFill>
            <a:srgbClr val="1B7A5A"/>
          </a:solidFill>
          <a:ln w="12700">
            <a:solidFill>
              <a:srgbClr val="1B7A5A"/>
            </a:solidFill>
            <a:prstDash val="solid"/>
          </a:ln>
        </p:spPr>
      </p:sp>
      <p:sp>
        <p:nvSpPr>
          <p:cNvPr id="31" name="Text 26"/>
          <p:cNvSpPr/>
          <p:nvPr/>
        </p:nvSpPr>
        <p:spPr>
          <a:xfrm>
            <a:off x="7253935" y="438912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D4A57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100%</a:t>
            </a:r>
            <a:endParaRPr lang="en-US" sz="3200" dirty="0"/>
          </a:p>
        </p:txBody>
      </p:sp>
      <p:sp>
        <p:nvSpPr>
          <p:cNvPr id="32" name="Text 27"/>
          <p:cNvSpPr/>
          <p:nvPr/>
        </p:nvSpPr>
        <p:spPr>
          <a:xfrm>
            <a:off x="7253935" y="502920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Nigerian</a:t>
            </a:r>
            <a:endParaRPr lang="en-US" sz="1200" dirty="0"/>
          </a:p>
        </p:txBody>
      </p:sp>
      <p:sp>
        <p:nvSpPr>
          <p:cNvPr id="33" name="Text 28"/>
          <p:cNvSpPr/>
          <p:nvPr/>
        </p:nvSpPr>
        <p:spPr>
          <a:xfrm>
            <a:off x="7253935" y="53035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7F4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team</a:t>
            </a:r>
            <a:endParaRPr lang="en-US" sz="1050" dirty="0"/>
          </a:p>
        </p:txBody>
      </p:sp>
      <p:sp>
        <p:nvSpPr>
          <p:cNvPr id="34" name="Shape 29"/>
          <p:cNvSpPr/>
          <p:nvPr/>
        </p:nvSpPr>
        <p:spPr>
          <a:xfrm>
            <a:off x="9402775" y="4251960"/>
            <a:ext cx="2194560" cy="1691640"/>
          </a:xfrm>
          <a:prstGeom prst="rect">
            <a:avLst/>
          </a:prstGeom>
          <a:solidFill>
            <a:srgbClr val="1B7A5A"/>
          </a:solidFill>
          <a:ln w="12700">
            <a:solidFill>
              <a:srgbClr val="1B7A5A"/>
            </a:solidFill>
            <a:prstDash val="solid"/>
          </a:ln>
        </p:spPr>
      </p:sp>
      <p:sp>
        <p:nvSpPr>
          <p:cNvPr id="35" name="Text 30"/>
          <p:cNvSpPr/>
          <p:nvPr/>
        </p:nvSpPr>
        <p:spPr>
          <a:xfrm>
            <a:off x="9539935" y="438912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D4A57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IFMIS</a:t>
            </a:r>
            <a:endParaRPr lang="en-US" sz="3200" dirty="0"/>
          </a:p>
        </p:txBody>
      </p:sp>
      <p:sp>
        <p:nvSpPr>
          <p:cNvPr id="36" name="Text 31"/>
          <p:cNvSpPr/>
          <p:nvPr/>
        </p:nvSpPr>
        <p:spPr>
          <a:xfrm>
            <a:off x="9539935" y="502920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</a:t>
            </a:r>
            <a:endParaRPr lang="en-US" sz="1200" dirty="0"/>
          </a:p>
        </p:txBody>
      </p:sp>
      <p:sp>
        <p:nvSpPr>
          <p:cNvPr id="37" name="Text 32"/>
          <p:cNvSpPr/>
          <p:nvPr/>
        </p:nvSpPr>
        <p:spPr>
          <a:xfrm>
            <a:off x="9539935" y="53035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7F4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designed for the framework</a:t>
            </a:r>
            <a:endParaRPr lang="en-US" sz="1050" dirty="0"/>
          </a:p>
        </p:txBody>
      </p:sp>
      <p:sp>
        <p:nvSpPr>
          <p:cNvPr id="38" name="Shape 33"/>
          <p:cNvSpPr/>
          <p:nvPr/>
        </p:nvSpPr>
        <p:spPr>
          <a:xfrm>
            <a:off x="502920" y="6473952"/>
            <a:ext cx="11185855" cy="0"/>
          </a:xfrm>
          <a:prstGeom prst="line">
            <a:avLst/>
          </a:prstGeom>
          <a:noFill/>
          <a:ln w="9525">
            <a:solidFill>
              <a:srgbClr val="D6CFB8"/>
            </a:solidFill>
            <a:prstDash val="solid"/>
          </a:ln>
        </p:spPr>
      </p:sp>
      <p:sp>
        <p:nvSpPr>
          <p:cNvPr id="39" name="Text 34"/>
          <p:cNvSpPr/>
          <p:nvPr/>
        </p:nvSpPr>
        <p:spPr>
          <a:xfrm>
            <a:off x="502920" y="652881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Dplux Technologies   ·   Quot PSA Briefing   ·   Presented by Jacob Osadiaye</a:t>
            </a:r>
            <a:endParaRPr lang="en-US" sz="900" dirty="0"/>
          </a:p>
        </p:txBody>
      </p:sp>
      <p:sp>
        <p:nvSpPr>
          <p:cNvPr id="40" name="Text 35"/>
          <p:cNvSpPr/>
          <p:nvPr/>
        </p:nvSpPr>
        <p:spPr>
          <a:xfrm>
            <a:off x="11323015" y="65288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F4C3A"/>
          </a:solidFill>
          <a:ln w="12700">
            <a:solidFill>
              <a:srgbClr val="0F4C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488375" y="36576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kern="0" spc="1200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WORK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02920" y="868680"/>
            <a:ext cx="1118585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4C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Selected platforms we have shipped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02920" y="1874520"/>
            <a:ext cx="365760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CFB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1874520"/>
            <a:ext cx="73152" cy="1920240"/>
          </a:xfrm>
          <a:prstGeom prst="rect">
            <a:avLst/>
          </a:prstGeom>
          <a:solidFill>
            <a:srgbClr val="D4A574"/>
          </a:solidFill>
          <a:ln w="12700">
            <a:solidFill>
              <a:srgbClr val="D4A57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" y="2075688"/>
            <a:ext cx="411480" cy="411480"/>
          </a:xfrm>
          <a:prstGeom prst="ellipse">
            <a:avLst/>
          </a:prstGeom>
          <a:solidFill>
            <a:srgbClr val="0F4C3A"/>
          </a:solidFill>
          <a:ln w="12700">
            <a:solidFill>
              <a:srgbClr val="0F4C3A"/>
            </a:solidFill>
            <a:prstDash val="solid"/>
          </a:ln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103" y="2168271"/>
            <a:ext cx="226314" cy="226314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34440" y="2039112"/>
            <a:ext cx="2788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000" dirty="0">
                <a:solidFill>
                  <a:srgbClr val="A880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Sector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731520" y="2587752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4C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Quot PSA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731520" y="2953512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multi-tenant IFMIS-aligned Public Sector Accounting platform with TSA, IPSAS reporting, commitment control, and 19 statutory reports. (The subject of today's briefing.)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4270248" y="1874520"/>
            <a:ext cx="365760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CFB8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270248" y="1874520"/>
            <a:ext cx="73152" cy="1920240"/>
          </a:xfrm>
          <a:prstGeom prst="rect">
            <a:avLst/>
          </a:prstGeom>
          <a:solidFill>
            <a:srgbClr val="D4A574"/>
          </a:solidFill>
          <a:ln w="12700">
            <a:solidFill>
              <a:srgbClr val="D4A574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498848" y="2075688"/>
            <a:ext cx="411480" cy="411480"/>
          </a:xfrm>
          <a:prstGeom prst="ellipse">
            <a:avLst/>
          </a:prstGeom>
          <a:solidFill>
            <a:srgbClr val="0F4C3A"/>
          </a:solidFill>
          <a:ln w="12700">
            <a:solidFill>
              <a:srgbClr val="0F4C3A"/>
            </a:solidFill>
            <a:prstDash val="solid"/>
          </a:ln>
        </p:spPr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91431" y="2168271"/>
            <a:ext cx="226314" cy="226314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5001768" y="2039112"/>
            <a:ext cx="2788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000" dirty="0">
                <a:solidFill>
                  <a:srgbClr val="A880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</a:t>
            </a:r>
            <a:endParaRPr lang="en-US" sz="950" dirty="0"/>
          </a:p>
        </p:txBody>
      </p:sp>
      <p:sp>
        <p:nvSpPr>
          <p:cNvPr id="19" name="Text 15"/>
          <p:cNvSpPr/>
          <p:nvPr/>
        </p:nvSpPr>
        <p:spPr>
          <a:xfrm>
            <a:off x="4498848" y="2587752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4C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Clinical &amp; Revenue Cycle Suite</a:t>
            </a:r>
            <a:endParaRPr lang="en-US" sz="1600" dirty="0"/>
          </a:p>
        </p:txBody>
      </p:sp>
      <p:sp>
        <p:nvSpPr>
          <p:cNvPr id="20" name="Text 16"/>
          <p:cNvSpPr/>
          <p:nvPr/>
        </p:nvSpPr>
        <p:spPr>
          <a:xfrm>
            <a:off x="4498848" y="2953512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 hospital information system covering EMR, laboratory, radiology, pharmacy, billing, claims, and revenue-cycle management with PHI-grade access controls.</a:t>
            </a:r>
            <a:endParaRPr lang="en-US" sz="1050" dirty="0"/>
          </a:p>
        </p:txBody>
      </p:sp>
      <p:sp>
        <p:nvSpPr>
          <p:cNvPr id="21" name="Shape 17"/>
          <p:cNvSpPr/>
          <p:nvPr/>
        </p:nvSpPr>
        <p:spPr>
          <a:xfrm>
            <a:off x="8037576" y="1874520"/>
            <a:ext cx="365760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CFB8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8037576" y="1874520"/>
            <a:ext cx="73152" cy="1920240"/>
          </a:xfrm>
          <a:prstGeom prst="rect">
            <a:avLst/>
          </a:prstGeom>
          <a:solidFill>
            <a:srgbClr val="D4A574"/>
          </a:solidFill>
          <a:ln w="12700">
            <a:solidFill>
              <a:srgbClr val="D4A574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8266176" y="2075688"/>
            <a:ext cx="411480" cy="411480"/>
          </a:xfrm>
          <a:prstGeom prst="ellipse">
            <a:avLst/>
          </a:prstGeom>
          <a:solidFill>
            <a:srgbClr val="0F4C3A"/>
          </a:solidFill>
          <a:ln w="12700">
            <a:solidFill>
              <a:srgbClr val="0F4C3A"/>
            </a:solidFill>
            <a:prstDash val="solid"/>
          </a:ln>
        </p:spPr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58759" y="2168271"/>
            <a:ext cx="226314" cy="226314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8769096" y="2039112"/>
            <a:ext cx="2788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000" dirty="0">
                <a:solidFill>
                  <a:srgbClr val="A880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Procurement</a:t>
            </a:r>
            <a:endParaRPr lang="en-US" sz="950" dirty="0"/>
          </a:p>
        </p:txBody>
      </p:sp>
      <p:sp>
        <p:nvSpPr>
          <p:cNvPr id="26" name="Text 21"/>
          <p:cNvSpPr/>
          <p:nvPr/>
        </p:nvSpPr>
        <p:spPr>
          <a:xfrm>
            <a:off x="8266176" y="2587752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4C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Contracts &amp; Vendor Lifecycle</a:t>
            </a:r>
            <a:endParaRPr lang="en-US" sz="1600" dirty="0"/>
          </a:p>
        </p:txBody>
      </p:sp>
      <p:sp>
        <p:nvSpPr>
          <p:cNvPr id="27" name="Text 22"/>
          <p:cNvSpPr/>
          <p:nvPr/>
        </p:nvSpPr>
        <p:spPr>
          <a:xfrm>
            <a:off x="8266176" y="2953512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onboarding, contract register, IPC processing, retention scheduling, and BPP-aligned procurement workflows — the core that powers Quot PSA contracts.</a:t>
            </a:r>
            <a:endParaRPr lang="en-US" sz="1050" dirty="0"/>
          </a:p>
        </p:txBody>
      </p:sp>
      <p:sp>
        <p:nvSpPr>
          <p:cNvPr id="28" name="Shape 23"/>
          <p:cNvSpPr/>
          <p:nvPr/>
        </p:nvSpPr>
        <p:spPr>
          <a:xfrm>
            <a:off x="502920" y="3941064"/>
            <a:ext cx="365760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CFB8"/>
            </a:solidFill>
            <a:prstDash val="solid"/>
          </a:ln>
        </p:spPr>
      </p:sp>
      <p:sp>
        <p:nvSpPr>
          <p:cNvPr id="29" name="Shape 24"/>
          <p:cNvSpPr/>
          <p:nvPr/>
        </p:nvSpPr>
        <p:spPr>
          <a:xfrm>
            <a:off x="502920" y="3941064"/>
            <a:ext cx="73152" cy="1920240"/>
          </a:xfrm>
          <a:prstGeom prst="rect">
            <a:avLst/>
          </a:prstGeom>
          <a:solidFill>
            <a:srgbClr val="D4A574"/>
          </a:solidFill>
          <a:ln w="12700">
            <a:solidFill>
              <a:srgbClr val="D4A574"/>
            </a:solidFill>
            <a:prstDash val="solid"/>
          </a:ln>
        </p:spPr>
      </p:sp>
      <p:sp>
        <p:nvSpPr>
          <p:cNvPr id="30" name="Shape 25"/>
          <p:cNvSpPr/>
          <p:nvPr/>
        </p:nvSpPr>
        <p:spPr>
          <a:xfrm>
            <a:off x="731520" y="4142232"/>
            <a:ext cx="411480" cy="411480"/>
          </a:xfrm>
          <a:prstGeom prst="ellipse">
            <a:avLst/>
          </a:prstGeom>
          <a:solidFill>
            <a:srgbClr val="0F4C3A"/>
          </a:solidFill>
          <a:ln w="12700">
            <a:solidFill>
              <a:srgbClr val="0F4C3A"/>
            </a:solidFill>
            <a:prstDash val="solid"/>
          </a:ln>
        </p:spPr>
      </p:sp>
      <p:pic>
        <p:nvPicPr>
          <p:cNvPr id="3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4103" y="4234815"/>
            <a:ext cx="226314" cy="226314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1234440" y="4105656"/>
            <a:ext cx="2788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000" dirty="0">
                <a:solidFill>
                  <a:srgbClr val="A880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</a:t>
            </a:r>
            <a:endParaRPr lang="en-US" sz="950" dirty="0"/>
          </a:p>
        </p:txBody>
      </p:sp>
      <p:sp>
        <p:nvSpPr>
          <p:cNvPr id="33" name="Text 27"/>
          <p:cNvSpPr/>
          <p:nvPr/>
        </p:nvSpPr>
        <p:spPr>
          <a:xfrm>
            <a:off x="731520" y="4654296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4C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Dplux ERP &amp; HRM</a:t>
            </a:r>
            <a:endParaRPr lang="en-US" sz="1600" dirty="0"/>
          </a:p>
        </p:txBody>
      </p:sp>
      <p:sp>
        <p:nvSpPr>
          <p:cNvPr id="34" name="Text 28"/>
          <p:cNvSpPr/>
          <p:nvPr/>
        </p:nvSpPr>
        <p:spPr>
          <a:xfrm>
            <a:off x="731520" y="5020056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multi-module ERP suite — finance, HR, payroll, inventory, sales, and approval workflow — deployed for mid-sized private-sector operators across West Africa.</a:t>
            </a:r>
            <a:endParaRPr lang="en-US" sz="1050" dirty="0"/>
          </a:p>
        </p:txBody>
      </p:sp>
      <p:sp>
        <p:nvSpPr>
          <p:cNvPr id="35" name="Shape 29"/>
          <p:cNvSpPr/>
          <p:nvPr/>
        </p:nvSpPr>
        <p:spPr>
          <a:xfrm>
            <a:off x="4270248" y="3941064"/>
            <a:ext cx="365760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CFB8"/>
            </a:solidFill>
            <a:prstDash val="solid"/>
          </a:ln>
        </p:spPr>
      </p:sp>
      <p:sp>
        <p:nvSpPr>
          <p:cNvPr id="36" name="Shape 30"/>
          <p:cNvSpPr/>
          <p:nvPr/>
        </p:nvSpPr>
        <p:spPr>
          <a:xfrm>
            <a:off x="4270248" y="3941064"/>
            <a:ext cx="73152" cy="1920240"/>
          </a:xfrm>
          <a:prstGeom prst="rect">
            <a:avLst/>
          </a:prstGeom>
          <a:solidFill>
            <a:srgbClr val="D4A574"/>
          </a:solidFill>
          <a:ln w="12700">
            <a:solidFill>
              <a:srgbClr val="D4A574"/>
            </a:solidFill>
            <a:prstDash val="solid"/>
          </a:ln>
        </p:spPr>
      </p:sp>
      <p:sp>
        <p:nvSpPr>
          <p:cNvPr id="37" name="Shape 31"/>
          <p:cNvSpPr/>
          <p:nvPr/>
        </p:nvSpPr>
        <p:spPr>
          <a:xfrm>
            <a:off x="4498848" y="4142232"/>
            <a:ext cx="411480" cy="411480"/>
          </a:xfrm>
          <a:prstGeom prst="ellipse">
            <a:avLst/>
          </a:prstGeom>
          <a:solidFill>
            <a:srgbClr val="0F4C3A"/>
          </a:solidFill>
          <a:ln w="12700">
            <a:solidFill>
              <a:srgbClr val="0F4C3A"/>
            </a:solidFill>
            <a:prstDash val="solid"/>
          </a:ln>
        </p:spPr>
      </p:sp>
      <p:pic>
        <p:nvPicPr>
          <p:cNvPr id="3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91431" y="4234815"/>
            <a:ext cx="226314" cy="226314"/>
          </a:xfrm>
          <a:prstGeom prst="rect">
            <a:avLst/>
          </a:prstGeom>
        </p:spPr>
      </p:pic>
      <p:sp>
        <p:nvSpPr>
          <p:cNvPr id="39" name="Text 32"/>
          <p:cNvSpPr/>
          <p:nvPr/>
        </p:nvSpPr>
        <p:spPr>
          <a:xfrm>
            <a:off x="5001768" y="4105656"/>
            <a:ext cx="2788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000" dirty="0">
                <a:solidFill>
                  <a:srgbClr val="A880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</a:t>
            </a:r>
            <a:endParaRPr lang="en-US" sz="950" dirty="0"/>
          </a:p>
        </p:txBody>
      </p:sp>
      <p:sp>
        <p:nvSpPr>
          <p:cNvPr id="40" name="Text 33"/>
          <p:cNvSpPr/>
          <p:nvPr/>
        </p:nvSpPr>
        <p:spPr>
          <a:xfrm>
            <a:off x="4498848" y="4654296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4C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Multi-tenant SaaS Infrastructure</a:t>
            </a:r>
            <a:endParaRPr lang="en-US" sz="1600" dirty="0"/>
          </a:p>
        </p:txBody>
      </p:sp>
      <p:sp>
        <p:nvSpPr>
          <p:cNvPr id="41" name="Text 34"/>
          <p:cNvSpPr/>
          <p:nvPr/>
        </p:nvSpPr>
        <p:spPr>
          <a:xfrm>
            <a:off x="4498848" y="5020056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reusable tenant-isolated SaaS substrate — schema-per-tenant Postgres, superadmin console, per-tenant module gating — that underpins every Dplux product line.</a:t>
            </a:r>
            <a:endParaRPr lang="en-US" sz="1050" dirty="0"/>
          </a:p>
        </p:txBody>
      </p:sp>
      <p:sp>
        <p:nvSpPr>
          <p:cNvPr id="42" name="Shape 35"/>
          <p:cNvSpPr/>
          <p:nvPr/>
        </p:nvSpPr>
        <p:spPr>
          <a:xfrm>
            <a:off x="8037576" y="3941064"/>
            <a:ext cx="365760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CFB8"/>
            </a:solidFill>
            <a:prstDash val="solid"/>
          </a:ln>
        </p:spPr>
      </p:sp>
      <p:sp>
        <p:nvSpPr>
          <p:cNvPr id="43" name="Shape 36"/>
          <p:cNvSpPr/>
          <p:nvPr/>
        </p:nvSpPr>
        <p:spPr>
          <a:xfrm>
            <a:off x="8037576" y="3941064"/>
            <a:ext cx="73152" cy="1920240"/>
          </a:xfrm>
          <a:prstGeom prst="rect">
            <a:avLst/>
          </a:prstGeom>
          <a:solidFill>
            <a:srgbClr val="D4A574"/>
          </a:solidFill>
          <a:ln w="12700">
            <a:solidFill>
              <a:srgbClr val="D4A574"/>
            </a:solidFill>
            <a:prstDash val="solid"/>
          </a:ln>
        </p:spPr>
      </p:sp>
      <p:sp>
        <p:nvSpPr>
          <p:cNvPr id="44" name="Shape 37"/>
          <p:cNvSpPr/>
          <p:nvPr/>
        </p:nvSpPr>
        <p:spPr>
          <a:xfrm>
            <a:off x="8266176" y="4142232"/>
            <a:ext cx="411480" cy="411480"/>
          </a:xfrm>
          <a:prstGeom prst="ellipse">
            <a:avLst/>
          </a:prstGeom>
          <a:solidFill>
            <a:srgbClr val="0F4C3A"/>
          </a:solidFill>
          <a:ln w="12700">
            <a:solidFill>
              <a:srgbClr val="0F4C3A"/>
            </a:solidFill>
            <a:prstDash val="solid"/>
          </a:ln>
        </p:spPr>
      </p:sp>
      <p:pic>
        <p:nvPicPr>
          <p:cNvPr id="45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58759" y="4234815"/>
            <a:ext cx="226314" cy="226314"/>
          </a:xfrm>
          <a:prstGeom prst="rect">
            <a:avLst/>
          </a:prstGeom>
        </p:spPr>
      </p:pic>
      <p:sp>
        <p:nvSpPr>
          <p:cNvPr id="46" name="Text 38"/>
          <p:cNvSpPr/>
          <p:nvPr/>
        </p:nvSpPr>
        <p:spPr>
          <a:xfrm>
            <a:off x="8769096" y="4105656"/>
            <a:ext cx="2788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000" dirty="0">
                <a:solidFill>
                  <a:srgbClr val="A880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Audit</a:t>
            </a:r>
            <a:endParaRPr lang="en-US" sz="950" dirty="0"/>
          </a:p>
        </p:txBody>
      </p:sp>
      <p:sp>
        <p:nvSpPr>
          <p:cNvPr id="47" name="Text 39"/>
          <p:cNvSpPr/>
          <p:nvPr/>
        </p:nvSpPr>
        <p:spPr>
          <a:xfrm>
            <a:off x="8266176" y="4654296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4C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Segregation-of-Duties Engine</a:t>
            </a:r>
            <a:endParaRPr lang="en-US" sz="1600" dirty="0"/>
          </a:p>
        </p:txBody>
      </p:sp>
      <p:sp>
        <p:nvSpPr>
          <p:cNvPr id="48" name="Text 40"/>
          <p:cNvSpPr/>
          <p:nvPr/>
        </p:nvSpPr>
        <p:spPr>
          <a:xfrm>
            <a:off x="8266176" y="5020056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centralised SoD evaluator that prevents conflicting actions across modules, with audit logging and policy-as-code rule authoring — embedded in Quot PSA.</a:t>
            </a:r>
            <a:endParaRPr lang="en-US" sz="1050" dirty="0"/>
          </a:p>
        </p:txBody>
      </p:sp>
      <p:sp>
        <p:nvSpPr>
          <p:cNvPr id="49" name="Shape 41"/>
          <p:cNvSpPr/>
          <p:nvPr/>
        </p:nvSpPr>
        <p:spPr>
          <a:xfrm>
            <a:off x="502920" y="6473952"/>
            <a:ext cx="11185855" cy="0"/>
          </a:xfrm>
          <a:prstGeom prst="line">
            <a:avLst/>
          </a:prstGeom>
          <a:noFill/>
          <a:ln w="9525">
            <a:solidFill>
              <a:srgbClr val="D6CFB8"/>
            </a:solidFill>
            <a:prstDash val="solid"/>
          </a:ln>
        </p:spPr>
      </p:sp>
      <p:sp>
        <p:nvSpPr>
          <p:cNvPr id="50" name="Text 42"/>
          <p:cNvSpPr/>
          <p:nvPr/>
        </p:nvSpPr>
        <p:spPr>
          <a:xfrm>
            <a:off x="502920" y="652881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Dplux Technologies   ·   Quot PSA Briefing   ·   Presented by Jacob Osadiaye</a:t>
            </a:r>
            <a:endParaRPr lang="en-US" sz="900" dirty="0"/>
          </a:p>
        </p:txBody>
      </p:sp>
      <p:sp>
        <p:nvSpPr>
          <p:cNvPr id="51" name="Text 43"/>
          <p:cNvSpPr/>
          <p:nvPr/>
        </p:nvSpPr>
        <p:spPr>
          <a:xfrm>
            <a:off x="11323015" y="65288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4C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F4C3A"/>
          </a:solidFill>
          <a:ln w="12700">
            <a:solidFill>
              <a:srgbClr val="0F4C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6576"/>
            <a:ext cx="8686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kern="0" spc="1800" dirty="0">
                <a:solidFill>
                  <a:srgbClr val="F7F4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 PSA  ·  Briefing to the Office of the Accountant General, Delta State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8488375" y="36576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kern="0" spc="1200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B7A5A"/>
          </a:solidFill>
          <a:ln w="12700">
            <a:solidFill>
              <a:srgbClr val="1B7A5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88375" y="36576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kern="0" spc="1200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02920" y="1234440"/>
            <a:ext cx="1118585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treasuries actually need — and what most ERPs cannot provide.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502920" y="2377440"/>
            <a:ext cx="5410048" cy="3657600"/>
          </a:xfrm>
          <a:prstGeom prst="rect">
            <a:avLst/>
          </a:prstGeom>
          <a:solidFill>
            <a:srgbClr val="1B7A5A"/>
          </a:solidFill>
          <a:ln w="19050">
            <a:solidFill>
              <a:srgbClr val="D4A57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2606040"/>
            <a:ext cx="4861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200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Public Sector Accounting requires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77240" y="3154680"/>
            <a:ext cx="4861408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Appropriation as legal ceiling on every expenditure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Commitment accounting at the PO, not at the invoice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 accounting with restricted sources (CRF, IGR, Donor)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7-segment NCoA: Admin × Economic × Functional × Programme × Fund × Geo × Project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Treasury Single Account hierarchy with MDA sub-accounts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IPSAS-prescribed equity structure (Accumulated Fund, Revaluation Surplus)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Statutory submissions to OAGF, OAuGF, CBN, FIRS, Budget Office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278728" y="2377440"/>
            <a:ext cx="5410048" cy="3657600"/>
          </a:xfrm>
          <a:prstGeom prst="rect">
            <a:avLst/>
          </a:prstGeom>
          <a:solidFill>
            <a:srgbClr val="F7F4ED"/>
          </a:solidFill>
          <a:ln w="12700">
            <a:solidFill>
              <a:srgbClr val="F7F4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53048" y="2606040"/>
            <a:ext cx="4861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200" dirty="0">
                <a:solidFill>
                  <a:srgbClr val="A880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 typical commercial ERP gives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553048" y="3154680"/>
            <a:ext cx="4861408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□"/>
            </a:pPr>
            <a:r>
              <a:rPr lang="en-US" sz="1150" dirty="0">
                <a:solidFill>
                  <a:srgbClr val="1A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&amp; loss accounting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□"/>
            </a:pPr>
            <a:r>
              <a:rPr lang="en-US" sz="1150" dirty="0">
                <a:solidFill>
                  <a:srgbClr val="1A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Invoice-time commitment (already too late)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□"/>
            </a:pPr>
            <a:r>
              <a:rPr lang="en-US" sz="1150" dirty="0">
                <a:solidFill>
                  <a:srgbClr val="1A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Pooled cash with no fund restriction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□"/>
            </a:pPr>
            <a:r>
              <a:rPr lang="en-US" sz="1150" dirty="0">
                <a:solidFill>
                  <a:srgbClr val="1A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3 to 5-segment commercial chart of accounts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□"/>
            </a:pPr>
            <a:r>
              <a:rPr lang="en-US" sz="1150" dirty="0">
                <a:solidFill>
                  <a:srgbClr val="1A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accounts, but no TSA model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□"/>
            </a:pPr>
            <a:r>
              <a:rPr lang="en-US" sz="1150" dirty="0">
                <a:solidFill>
                  <a:srgbClr val="1A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Retained Earnings (not Accumulated Fund)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□"/>
            </a:pPr>
            <a:r>
              <a:rPr lang="en-US" sz="1150" dirty="0">
                <a:solidFill>
                  <a:srgbClr val="1A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Quarterly investor reports, not OAGF returns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02920" y="652881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7F4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Dplux Technologies   ·   Presented by Jacob Osadiaye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323015" y="65288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F4C3A"/>
          </a:solidFill>
          <a:ln w="12700">
            <a:solidFill>
              <a:srgbClr val="0F4C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6576"/>
            <a:ext cx="8686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kern="0" spc="1800" dirty="0">
                <a:solidFill>
                  <a:srgbClr val="F7F4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 PSA  ·  Briefing to the Office of the Accountant General, Delta State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8488375" y="36576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kern="0" spc="1200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PLATFORM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02920" y="59436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400" dirty="0">
                <a:solidFill>
                  <a:srgbClr val="A880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ground-up for the public sector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868680"/>
            <a:ext cx="1118585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4C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Introducing Quot PSA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02920" y="1874520"/>
            <a:ext cx="1118585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A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 PSA is a full-stack Public Sector Accounting platform. Every primitive — appropriation, warrant, commitment, fund, vote book, voucher, mandate, TSA sub-account — is modelled as a first-class object. The result is a system that enforces fiscal control at the point of commitment, not after the fact.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02920" y="3017520"/>
            <a:ext cx="2727884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CFB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2920" y="3017520"/>
            <a:ext cx="2727884" cy="73152"/>
          </a:xfrm>
          <a:prstGeom prst="rect">
            <a:avLst/>
          </a:prstGeom>
          <a:solidFill>
            <a:srgbClr val="D4A574"/>
          </a:solidFill>
          <a:ln w="12700">
            <a:solidFill>
              <a:srgbClr val="D4A57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3200400"/>
            <a:ext cx="23621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0F4C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20+</a:t>
            </a:r>
            <a:endParaRPr lang="en-US" sz="4200" dirty="0"/>
          </a:p>
        </p:txBody>
      </p:sp>
      <p:sp>
        <p:nvSpPr>
          <p:cNvPr id="11" name="Text 9"/>
          <p:cNvSpPr/>
          <p:nvPr/>
        </p:nvSpPr>
        <p:spPr>
          <a:xfrm>
            <a:off x="685800" y="3886200"/>
            <a:ext cx="23621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modules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322244" y="3017520"/>
            <a:ext cx="2727884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CFB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322244" y="3017520"/>
            <a:ext cx="2727884" cy="73152"/>
          </a:xfrm>
          <a:prstGeom prst="rect">
            <a:avLst/>
          </a:prstGeom>
          <a:solidFill>
            <a:srgbClr val="D4A574"/>
          </a:solidFill>
          <a:ln w="12700">
            <a:solidFill>
              <a:srgbClr val="D4A57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05124" y="3200400"/>
            <a:ext cx="23621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0F4C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</a:t>
            </a:r>
            <a:endParaRPr lang="en-US" sz="4200" dirty="0"/>
          </a:p>
        </p:txBody>
      </p:sp>
      <p:sp>
        <p:nvSpPr>
          <p:cNvPr id="15" name="Text 13"/>
          <p:cNvSpPr/>
          <p:nvPr/>
        </p:nvSpPr>
        <p:spPr>
          <a:xfrm>
            <a:off x="3505124" y="3886200"/>
            <a:ext cx="23621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Statutory IPSAS / GFS reports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141568" y="3017520"/>
            <a:ext cx="2727884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CFB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41568" y="3017520"/>
            <a:ext cx="2727884" cy="73152"/>
          </a:xfrm>
          <a:prstGeom prst="rect">
            <a:avLst/>
          </a:prstGeom>
          <a:solidFill>
            <a:srgbClr val="D4A574"/>
          </a:solidFill>
          <a:ln w="12700">
            <a:solidFill>
              <a:srgbClr val="D4A57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24448" y="3200400"/>
            <a:ext cx="23621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0F4C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7-seg</a:t>
            </a:r>
            <a:endParaRPr lang="en-US" sz="4200" dirty="0"/>
          </a:p>
        </p:txBody>
      </p:sp>
      <p:sp>
        <p:nvSpPr>
          <p:cNvPr id="19" name="Text 17"/>
          <p:cNvSpPr/>
          <p:nvPr/>
        </p:nvSpPr>
        <p:spPr>
          <a:xfrm>
            <a:off x="6324448" y="3886200"/>
            <a:ext cx="23621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NCoA classification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960891" y="3017520"/>
            <a:ext cx="2727884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CFB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960891" y="3017520"/>
            <a:ext cx="2727884" cy="73152"/>
          </a:xfrm>
          <a:prstGeom prst="rect">
            <a:avLst/>
          </a:prstGeom>
          <a:solidFill>
            <a:srgbClr val="D4A574"/>
          </a:solidFill>
          <a:ln w="12700">
            <a:solidFill>
              <a:srgbClr val="D4A57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3771" y="3200400"/>
            <a:ext cx="23621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0F4C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SoD</a:t>
            </a:r>
            <a:endParaRPr lang="en-US" sz="4200" dirty="0"/>
          </a:p>
        </p:txBody>
      </p:sp>
      <p:sp>
        <p:nvSpPr>
          <p:cNvPr id="23" name="Text 21"/>
          <p:cNvSpPr/>
          <p:nvPr/>
        </p:nvSpPr>
        <p:spPr>
          <a:xfrm>
            <a:off x="9143771" y="3886200"/>
            <a:ext cx="23621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Centrally enforced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02920" y="4754880"/>
            <a:ext cx="2727884" cy="1280160"/>
          </a:xfrm>
          <a:prstGeom prst="rect">
            <a:avLst/>
          </a:prstGeom>
          <a:solidFill>
            <a:srgbClr val="0F4C3A"/>
          </a:solidFill>
          <a:ln w="12700">
            <a:solidFill>
              <a:srgbClr val="0F4C3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85800" y="4919472"/>
            <a:ext cx="457200" cy="457200"/>
          </a:xfrm>
          <a:prstGeom prst="ellipse">
            <a:avLst/>
          </a:prstGeom>
          <a:solidFill>
            <a:srgbClr val="1B7A5A"/>
          </a:solidFill>
          <a:ln w="12700">
            <a:solidFill>
              <a:srgbClr val="1B7A5A"/>
            </a:solidFill>
            <a:prstDash val="solid"/>
          </a:ln>
        </p:spPr>
      </p:sp>
      <p:pic>
        <p:nvPicPr>
          <p:cNvPr id="2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670" y="5022342"/>
            <a:ext cx="251460" cy="251460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1280160" y="4937760"/>
            <a:ext cx="18134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200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IFMIS-aligned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685800" y="5486400"/>
            <a:ext cx="23621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7F4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around the Federal IFMIS framework, not retrofitted.</a:t>
            </a:r>
            <a:endParaRPr lang="en-US" sz="1050" dirty="0"/>
          </a:p>
        </p:txBody>
      </p:sp>
      <p:sp>
        <p:nvSpPr>
          <p:cNvPr id="29" name="Shape 26"/>
          <p:cNvSpPr/>
          <p:nvPr/>
        </p:nvSpPr>
        <p:spPr>
          <a:xfrm>
            <a:off x="3322244" y="4754880"/>
            <a:ext cx="2727884" cy="1280160"/>
          </a:xfrm>
          <a:prstGeom prst="rect">
            <a:avLst/>
          </a:prstGeom>
          <a:solidFill>
            <a:srgbClr val="0F4C3A"/>
          </a:solidFill>
          <a:ln w="12700">
            <a:solidFill>
              <a:srgbClr val="0F4C3A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3505124" y="4919472"/>
            <a:ext cx="457200" cy="457200"/>
          </a:xfrm>
          <a:prstGeom prst="ellipse">
            <a:avLst/>
          </a:prstGeom>
          <a:solidFill>
            <a:srgbClr val="1B7A5A"/>
          </a:solidFill>
          <a:ln w="12700">
            <a:solidFill>
              <a:srgbClr val="1B7A5A"/>
            </a:solidFill>
            <a:prstDash val="solid"/>
          </a:ln>
        </p:spPr>
      </p:sp>
      <p:pic>
        <p:nvPicPr>
          <p:cNvPr id="3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07994" y="5022342"/>
            <a:ext cx="251460" cy="251460"/>
          </a:xfrm>
          <a:prstGeom prst="rect">
            <a:avLst/>
          </a:prstGeom>
        </p:spPr>
      </p:pic>
      <p:sp>
        <p:nvSpPr>
          <p:cNvPr id="32" name="Text 28"/>
          <p:cNvSpPr/>
          <p:nvPr/>
        </p:nvSpPr>
        <p:spPr>
          <a:xfrm>
            <a:off x="4099484" y="4937760"/>
            <a:ext cx="18134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200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IPSAS-compliant</a:t>
            </a:r>
            <a:endParaRPr lang="en-US" sz="1300" dirty="0"/>
          </a:p>
        </p:txBody>
      </p:sp>
      <p:sp>
        <p:nvSpPr>
          <p:cNvPr id="33" name="Text 29"/>
          <p:cNvSpPr/>
          <p:nvPr/>
        </p:nvSpPr>
        <p:spPr>
          <a:xfrm>
            <a:off x="3505124" y="5486400"/>
            <a:ext cx="23621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7F4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Cash-basis and accrual reporting out of the box.</a:t>
            </a:r>
            <a:endParaRPr lang="en-US" sz="1050" dirty="0"/>
          </a:p>
        </p:txBody>
      </p:sp>
      <p:sp>
        <p:nvSpPr>
          <p:cNvPr id="34" name="Shape 30"/>
          <p:cNvSpPr/>
          <p:nvPr/>
        </p:nvSpPr>
        <p:spPr>
          <a:xfrm>
            <a:off x="6141568" y="4754880"/>
            <a:ext cx="2727884" cy="1280160"/>
          </a:xfrm>
          <a:prstGeom prst="rect">
            <a:avLst/>
          </a:prstGeom>
          <a:solidFill>
            <a:srgbClr val="0F4C3A"/>
          </a:solidFill>
          <a:ln w="12700">
            <a:solidFill>
              <a:srgbClr val="0F4C3A"/>
            </a:solidFill>
            <a:prstDash val="solid"/>
          </a:ln>
        </p:spPr>
      </p:sp>
      <p:sp>
        <p:nvSpPr>
          <p:cNvPr id="35" name="Shape 31"/>
          <p:cNvSpPr/>
          <p:nvPr/>
        </p:nvSpPr>
        <p:spPr>
          <a:xfrm>
            <a:off x="6324448" y="4919472"/>
            <a:ext cx="457200" cy="457200"/>
          </a:xfrm>
          <a:prstGeom prst="ellipse">
            <a:avLst/>
          </a:prstGeom>
          <a:solidFill>
            <a:srgbClr val="1B7A5A"/>
          </a:solidFill>
          <a:ln w="12700">
            <a:solidFill>
              <a:srgbClr val="1B7A5A"/>
            </a:solidFill>
            <a:prstDash val="solid"/>
          </a:ln>
        </p:spPr>
      </p:sp>
      <p:pic>
        <p:nvPicPr>
          <p:cNvPr id="3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27318" y="5022342"/>
            <a:ext cx="251460" cy="251460"/>
          </a:xfrm>
          <a:prstGeom prst="rect">
            <a:avLst/>
          </a:prstGeom>
        </p:spPr>
      </p:pic>
      <p:sp>
        <p:nvSpPr>
          <p:cNvPr id="37" name="Text 32"/>
          <p:cNvSpPr/>
          <p:nvPr/>
        </p:nvSpPr>
        <p:spPr>
          <a:xfrm>
            <a:off x="6918808" y="4937760"/>
            <a:ext cx="18134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200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Audit-grade</a:t>
            </a:r>
            <a:endParaRPr lang="en-US" sz="1300" dirty="0"/>
          </a:p>
        </p:txBody>
      </p:sp>
      <p:sp>
        <p:nvSpPr>
          <p:cNvPr id="38" name="Text 33"/>
          <p:cNvSpPr/>
          <p:nvPr/>
        </p:nvSpPr>
        <p:spPr>
          <a:xfrm>
            <a:off x="6324448" y="5486400"/>
            <a:ext cx="23621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7F4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 audit trail on every posting and override.</a:t>
            </a:r>
            <a:endParaRPr lang="en-US" sz="1050" dirty="0"/>
          </a:p>
        </p:txBody>
      </p:sp>
      <p:sp>
        <p:nvSpPr>
          <p:cNvPr id="39" name="Shape 34"/>
          <p:cNvSpPr/>
          <p:nvPr/>
        </p:nvSpPr>
        <p:spPr>
          <a:xfrm>
            <a:off x="8960891" y="4754880"/>
            <a:ext cx="2727884" cy="1280160"/>
          </a:xfrm>
          <a:prstGeom prst="rect">
            <a:avLst/>
          </a:prstGeom>
          <a:solidFill>
            <a:srgbClr val="0F4C3A"/>
          </a:solidFill>
          <a:ln w="12700">
            <a:solidFill>
              <a:srgbClr val="0F4C3A"/>
            </a:solidFill>
            <a:prstDash val="solid"/>
          </a:ln>
        </p:spPr>
      </p:sp>
      <p:sp>
        <p:nvSpPr>
          <p:cNvPr id="40" name="Shape 35"/>
          <p:cNvSpPr/>
          <p:nvPr/>
        </p:nvSpPr>
        <p:spPr>
          <a:xfrm>
            <a:off x="9143771" y="4919472"/>
            <a:ext cx="457200" cy="457200"/>
          </a:xfrm>
          <a:prstGeom prst="ellipse">
            <a:avLst/>
          </a:prstGeom>
          <a:solidFill>
            <a:srgbClr val="1B7A5A"/>
          </a:solidFill>
          <a:ln w="12700">
            <a:solidFill>
              <a:srgbClr val="1B7A5A"/>
            </a:solidFill>
            <a:prstDash val="solid"/>
          </a:ln>
        </p:spPr>
      </p:sp>
      <p:pic>
        <p:nvPicPr>
          <p:cNvPr id="4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46641" y="5022342"/>
            <a:ext cx="251460" cy="251460"/>
          </a:xfrm>
          <a:prstGeom prst="rect">
            <a:avLst/>
          </a:prstGeom>
        </p:spPr>
      </p:pic>
      <p:sp>
        <p:nvSpPr>
          <p:cNvPr id="42" name="Text 36"/>
          <p:cNvSpPr/>
          <p:nvPr/>
        </p:nvSpPr>
        <p:spPr>
          <a:xfrm>
            <a:off x="9738131" y="4937760"/>
            <a:ext cx="18134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200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Multi-tenant</a:t>
            </a:r>
            <a:endParaRPr lang="en-US" sz="1300" dirty="0"/>
          </a:p>
        </p:txBody>
      </p:sp>
      <p:sp>
        <p:nvSpPr>
          <p:cNvPr id="43" name="Text 37"/>
          <p:cNvSpPr/>
          <p:nvPr/>
        </p:nvSpPr>
        <p:spPr>
          <a:xfrm>
            <a:off x="9143771" y="5486400"/>
            <a:ext cx="23621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7F4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Per-MDA schema isolation in a single deployment.</a:t>
            </a:r>
            <a:endParaRPr lang="en-US" sz="1050" dirty="0"/>
          </a:p>
        </p:txBody>
      </p:sp>
      <p:sp>
        <p:nvSpPr>
          <p:cNvPr id="44" name="Shape 38"/>
          <p:cNvSpPr/>
          <p:nvPr/>
        </p:nvSpPr>
        <p:spPr>
          <a:xfrm>
            <a:off x="502920" y="6473952"/>
            <a:ext cx="11185855" cy="0"/>
          </a:xfrm>
          <a:prstGeom prst="line">
            <a:avLst/>
          </a:prstGeom>
          <a:noFill/>
          <a:ln w="9525">
            <a:solidFill>
              <a:srgbClr val="D6CFB8"/>
            </a:solidFill>
            <a:prstDash val="solid"/>
          </a:ln>
        </p:spPr>
      </p:sp>
      <p:sp>
        <p:nvSpPr>
          <p:cNvPr id="45" name="Text 39"/>
          <p:cNvSpPr/>
          <p:nvPr/>
        </p:nvSpPr>
        <p:spPr>
          <a:xfrm>
            <a:off x="502920" y="652881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Dplux Technologies   ·   Quot PSA Briefing   ·   Presented by Jacob Osadiaye</a:t>
            </a:r>
            <a:endParaRPr lang="en-US" sz="900" dirty="0"/>
          </a:p>
        </p:txBody>
      </p:sp>
      <p:sp>
        <p:nvSpPr>
          <p:cNvPr id="46" name="Text 40"/>
          <p:cNvSpPr/>
          <p:nvPr/>
        </p:nvSpPr>
        <p:spPr>
          <a:xfrm>
            <a:off x="11323015" y="65288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F4C3A"/>
          </a:solidFill>
          <a:ln w="12700">
            <a:solidFill>
              <a:srgbClr val="0F4C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488375" y="36576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kern="0" spc="1200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MAP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02920" y="868680"/>
            <a:ext cx="1118585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4C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platform, every public-sector workflow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02920" y="1874520"/>
            <a:ext cx="2468880" cy="1051560"/>
          </a:xfrm>
          <a:prstGeom prst="rect">
            <a:avLst/>
          </a:prstGeom>
          <a:solidFill>
            <a:srgbClr val="0F4C3A"/>
          </a:solidFill>
          <a:ln w="12700">
            <a:solidFill>
              <a:srgbClr val="0F4C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874520"/>
            <a:ext cx="2286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&amp; APPROPRIATION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108960" y="2011680"/>
            <a:ext cx="1642811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CFB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108960" y="2011680"/>
            <a:ext cx="1642811" cy="54864"/>
          </a:xfrm>
          <a:prstGeom prst="rect">
            <a:avLst/>
          </a:prstGeom>
          <a:solidFill>
            <a:srgbClr val="0F4C3A"/>
          </a:solidFill>
          <a:ln w="12700">
            <a:solidFill>
              <a:srgbClr val="0F4C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18688" y="2103120"/>
            <a:ext cx="14233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MTEF &amp; Sector Envelopes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797491" y="2011680"/>
            <a:ext cx="1642811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CFB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797491" y="2011680"/>
            <a:ext cx="1642811" cy="54864"/>
          </a:xfrm>
          <a:prstGeom prst="rect">
            <a:avLst/>
          </a:prstGeom>
          <a:solidFill>
            <a:srgbClr val="0F4C3A"/>
          </a:solidFill>
          <a:ln w="12700">
            <a:solidFill>
              <a:srgbClr val="0F4C3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07219" y="2103120"/>
            <a:ext cx="14233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Appropriation Loading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486022" y="2011680"/>
            <a:ext cx="1642811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CFB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86022" y="2011680"/>
            <a:ext cx="1642811" cy="54864"/>
          </a:xfrm>
          <a:prstGeom prst="rect">
            <a:avLst/>
          </a:prstGeom>
          <a:solidFill>
            <a:srgbClr val="0F4C3A"/>
          </a:solidFill>
          <a:ln w="12700">
            <a:solidFill>
              <a:srgbClr val="0F4C3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95750" y="2103120"/>
            <a:ext cx="14233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Warrants &amp; AIE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8174553" y="2011680"/>
            <a:ext cx="1642811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CFB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174553" y="2011680"/>
            <a:ext cx="1642811" cy="54864"/>
          </a:xfrm>
          <a:prstGeom prst="rect">
            <a:avLst/>
          </a:prstGeom>
          <a:solidFill>
            <a:srgbClr val="0F4C3A"/>
          </a:solidFill>
          <a:ln w="12700">
            <a:solidFill>
              <a:srgbClr val="0F4C3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84281" y="2103120"/>
            <a:ext cx="14233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Virements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9863084" y="2011680"/>
            <a:ext cx="1642811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CFB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863084" y="2011680"/>
            <a:ext cx="1642811" cy="54864"/>
          </a:xfrm>
          <a:prstGeom prst="rect">
            <a:avLst/>
          </a:prstGeom>
          <a:solidFill>
            <a:srgbClr val="0F4C3A"/>
          </a:solidFill>
          <a:ln w="12700">
            <a:solidFill>
              <a:srgbClr val="0F4C3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972812" y="2103120"/>
            <a:ext cx="14233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Check Rules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02920" y="3035808"/>
            <a:ext cx="2468880" cy="1051560"/>
          </a:xfrm>
          <a:prstGeom prst="rect">
            <a:avLst/>
          </a:prstGeom>
          <a:solidFill>
            <a:srgbClr val="1B7A5A"/>
          </a:solidFill>
          <a:ln w="12700">
            <a:solidFill>
              <a:srgbClr val="1B7A5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5800" y="3035808"/>
            <a:ext cx="2286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COMMITMENT &amp; PROCUREMENT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108960" y="3172968"/>
            <a:ext cx="1642811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CFB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108960" y="3172968"/>
            <a:ext cx="1642811" cy="54864"/>
          </a:xfrm>
          <a:prstGeom prst="rect">
            <a:avLst/>
          </a:prstGeom>
          <a:solidFill>
            <a:srgbClr val="1B7A5A"/>
          </a:solidFill>
          <a:ln w="12700">
            <a:solidFill>
              <a:srgbClr val="1B7A5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18688" y="3264408"/>
            <a:ext cx="14233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Registry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4797491" y="3172968"/>
            <a:ext cx="1642811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CFB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797491" y="3172968"/>
            <a:ext cx="1642811" cy="54864"/>
          </a:xfrm>
          <a:prstGeom prst="rect">
            <a:avLst/>
          </a:prstGeom>
          <a:solidFill>
            <a:srgbClr val="1B7A5A"/>
          </a:solidFill>
          <a:ln w="12700">
            <a:solidFill>
              <a:srgbClr val="1B7A5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07219" y="3264408"/>
            <a:ext cx="14233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Requisitions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6486022" y="3172968"/>
            <a:ext cx="1642811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CFB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486022" y="3172968"/>
            <a:ext cx="1642811" cy="54864"/>
          </a:xfrm>
          <a:prstGeom prst="rect">
            <a:avLst/>
          </a:prstGeom>
          <a:solidFill>
            <a:srgbClr val="1B7A5A"/>
          </a:solidFill>
          <a:ln w="12700">
            <a:solidFill>
              <a:srgbClr val="1B7A5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595750" y="3264408"/>
            <a:ext cx="14233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 / LPOs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8174553" y="3172968"/>
            <a:ext cx="1642811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CFB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174553" y="3172968"/>
            <a:ext cx="1642811" cy="54864"/>
          </a:xfrm>
          <a:prstGeom prst="rect">
            <a:avLst/>
          </a:prstGeom>
          <a:solidFill>
            <a:srgbClr val="1B7A5A"/>
          </a:solidFill>
          <a:ln w="12700">
            <a:solidFill>
              <a:srgbClr val="1B7A5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284281" y="3264408"/>
            <a:ext cx="14233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GRN &amp; Invoice Matching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9863084" y="3172968"/>
            <a:ext cx="1642811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CFB8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9863084" y="3172968"/>
            <a:ext cx="1642811" cy="54864"/>
          </a:xfrm>
          <a:prstGeom prst="rect">
            <a:avLst/>
          </a:prstGeom>
          <a:solidFill>
            <a:srgbClr val="1B7A5A"/>
          </a:solidFill>
          <a:ln w="12700">
            <a:solidFill>
              <a:srgbClr val="1B7A5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972812" y="3264408"/>
            <a:ext cx="14233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Contracts &amp; IPCs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502920" y="4197096"/>
            <a:ext cx="2468880" cy="1051560"/>
          </a:xfrm>
          <a:prstGeom prst="rect">
            <a:avLst/>
          </a:prstGeom>
          <a:solidFill>
            <a:srgbClr val="A88051"/>
          </a:solidFill>
          <a:ln w="12700">
            <a:solidFill>
              <a:srgbClr val="A8805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85800" y="4197096"/>
            <a:ext cx="2286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TREASURY, GL &amp; TAX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3108960" y="4334256"/>
            <a:ext cx="1642811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CFB8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108960" y="4334256"/>
            <a:ext cx="1642811" cy="54864"/>
          </a:xfrm>
          <a:prstGeom prst="rect">
            <a:avLst/>
          </a:prstGeom>
          <a:solidFill>
            <a:srgbClr val="A88051"/>
          </a:solidFill>
          <a:ln w="12700">
            <a:solidFill>
              <a:srgbClr val="A88051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218688" y="4425696"/>
            <a:ext cx="14233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TSA Ledger</a:t>
            </a:r>
            <a:endParaRPr lang="en-US" sz="1150" dirty="0"/>
          </a:p>
        </p:txBody>
      </p:sp>
      <p:sp>
        <p:nvSpPr>
          <p:cNvPr id="46" name="Shape 44"/>
          <p:cNvSpPr/>
          <p:nvPr/>
        </p:nvSpPr>
        <p:spPr>
          <a:xfrm>
            <a:off x="4797491" y="4334256"/>
            <a:ext cx="1642811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CFB8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797491" y="4334256"/>
            <a:ext cx="1642811" cy="54864"/>
          </a:xfrm>
          <a:prstGeom prst="rect">
            <a:avLst/>
          </a:prstGeom>
          <a:solidFill>
            <a:srgbClr val="A88051"/>
          </a:solidFill>
          <a:ln w="12700">
            <a:solidFill>
              <a:srgbClr val="A88051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907219" y="4425696"/>
            <a:ext cx="14233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&amp; Cash</a:t>
            </a:r>
            <a:endParaRPr lang="en-US" sz="1150" dirty="0"/>
          </a:p>
        </p:txBody>
      </p:sp>
      <p:sp>
        <p:nvSpPr>
          <p:cNvPr id="49" name="Shape 47"/>
          <p:cNvSpPr/>
          <p:nvPr/>
        </p:nvSpPr>
        <p:spPr>
          <a:xfrm>
            <a:off x="6486022" y="4334256"/>
            <a:ext cx="1642811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CFB8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486022" y="4334256"/>
            <a:ext cx="1642811" cy="54864"/>
          </a:xfrm>
          <a:prstGeom prst="rect">
            <a:avLst/>
          </a:prstGeom>
          <a:solidFill>
            <a:srgbClr val="A88051"/>
          </a:solidFill>
          <a:ln w="12700">
            <a:solidFill>
              <a:srgbClr val="A88051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595750" y="4425696"/>
            <a:ext cx="14233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Ledger &amp; NCoA</a:t>
            </a:r>
            <a:endParaRPr lang="en-US" sz="1150" dirty="0"/>
          </a:p>
        </p:txBody>
      </p:sp>
      <p:sp>
        <p:nvSpPr>
          <p:cNvPr id="52" name="Shape 50"/>
          <p:cNvSpPr/>
          <p:nvPr/>
        </p:nvSpPr>
        <p:spPr>
          <a:xfrm>
            <a:off x="8174553" y="4334256"/>
            <a:ext cx="1642811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CFB8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8174553" y="4334256"/>
            <a:ext cx="1642811" cy="54864"/>
          </a:xfrm>
          <a:prstGeom prst="rect">
            <a:avLst/>
          </a:prstGeom>
          <a:solidFill>
            <a:srgbClr val="A88051"/>
          </a:solidFill>
          <a:ln w="12700">
            <a:solidFill>
              <a:srgbClr val="A88051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8284281" y="4425696"/>
            <a:ext cx="14233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 / AR</a:t>
            </a:r>
            <a:endParaRPr lang="en-US" sz="1150" dirty="0"/>
          </a:p>
        </p:txBody>
      </p:sp>
      <p:sp>
        <p:nvSpPr>
          <p:cNvPr id="55" name="Shape 53"/>
          <p:cNvSpPr/>
          <p:nvPr/>
        </p:nvSpPr>
        <p:spPr>
          <a:xfrm>
            <a:off x="9863084" y="4334256"/>
            <a:ext cx="1642811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CFB8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9863084" y="4334256"/>
            <a:ext cx="1642811" cy="54864"/>
          </a:xfrm>
          <a:prstGeom prst="rect">
            <a:avLst/>
          </a:prstGeom>
          <a:solidFill>
            <a:srgbClr val="A88051"/>
          </a:solidFill>
          <a:ln w="12700">
            <a:solidFill>
              <a:srgbClr val="A88051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9972812" y="4425696"/>
            <a:ext cx="14233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PAYE · VAT · WHT</a:t>
            </a:r>
            <a:endParaRPr lang="en-US" sz="1150" dirty="0"/>
          </a:p>
        </p:txBody>
      </p:sp>
      <p:sp>
        <p:nvSpPr>
          <p:cNvPr id="58" name="Shape 56"/>
          <p:cNvSpPr/>
          <p:nvPr/>
        </p:nvSpPr>
        <p:spPr>
          <a:xfrm>
            <a:off x="502920" y="5358384"/>
            <a:ext cx="2468880" cy="1051560"/>
          </a:xfrm>
          <a:prstGeom prst="rect">
            <a:avLst/>
          </a:prstGeom>
          <a:solidFill>
            <a:srgbClr val="1A2B26"/>
          </a:solidFill>
          <a:ln w="12700">
            <a:solidFill>
              <a:srgbClr val="1A2B26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85800" y="5358384"/>
            <a:ext cx="2286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REPORTING, AUDIT &amp; SUPPORT</a:t>
            </a:r>
            <a:endParaRPr lang="en-US" sz="1200" dirty="0"/>
          </a:p>
        </p:txBody>
      </p:sp>
      <p:sp>
        <p:nvSpPr>
          <p:cNvPr id="60" name="Shape 58"/>
          <p:cNvSpPr/>
          <p:nvPr/>
        </p:nvSpPr>
        <p:spPr>
          <a:xfrm>
            <a:off x="3108960" y="5495544"/>
            <a:ext cx="1642811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CFB8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3108960" y="5495544"/>
            <a:ext cx="1642811" cy="54864"/>
          </a:xfrm>
          <a:prstGeom prst="rect">
            <a:avLst/>
          </a:prstGeom>
          <a:solidFill>
            <a:srgbClr val="1A2B26"/>
          </a:solidFill>
          <a:ln w="12700">
            <a:solidFill>
              <a:srgbClr val="1A2B26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3218688" y="5586984"/>
            <a:ext cx="14233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IPSAS Reports</a:t>
            </a:r>
            <a:endParaRPr lang="en-US" sz="1150" dirty="0"/>
          </a:p>
        </p:txBody>
      </p:sp>
      <p:sp>
        <p:nvSpPr>
          <p:cNvPr id="63" name="Shape 61"/>
          <p:cNvSpPr/>
          <p:nvPr/>
        </p:nvSpPr>
        <p:spPr>
          <a:xfrm>
            <a:off x="4797491" y="5495544"/>
            <a:ext cx="1642811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CFB8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4797491" y="5495544"/>
            <a:ext cx="1642811" cy="54864"/>
          </a:xfrm>
          <a:prstGeom prst="rect">
            <a:avLst/>
          </a:prstGeom>
          <a:solidFill>
            <a:srgbClr val="1A2B26"/>
          </a:solidFill>
          <a:ln w="12700">
            <a:solidFill>
              <a:srgbClr val="1A2B26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907219" y="5586984"/>
            <a:ext cx="14233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GFS 2014</a:t>
            </a:r>
            <a:endParaRPr lang="en-US" sz="1150" dirty="0"/>
          </a:p>
        </p:txBody>
      </p:sp>
      <p:sp>
        <p:nvSpPr>
          <p:cNvPr id="66" name="Shape 64"/>
          <p:cNvSpPr/>
          <p:nvPr/>
        </p:nvSpPr>
        <p:spPr>
          <a:xfrm>
            <a:off x="6486022" y="5495544"/>
            <a:ext cx="1642811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CFB8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6486022" y="5495544"/>
            <a:ext cx="1642811" cy="54864"/>
          </a:xfrm>
          <a:prstGeom prst="rect">
            <a:avLst/>
          </a:prstGeom>
          <a:solidFill>
            <a:srgbClr val="1A2B26"/>
          </a:solidFill>
          <a:ln w="12700">
            <a:solidFill>
              <a:srgbClr val="1A2B26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6595750" y="5586984"/>
            <a:ext cx="14233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 · SoD · RBAC</a:t>
            </a:r>
            <a:endParaRPr lang="en-US" sz="1150" dirty="0"/>
          </a:p>
        </p:txBody>
      </p:sp>
      <p:sp>
        <p:nvSpPr>
          <p:cNvPr id="69" name="Shape 67"/>
          <p:cNvSpPr/>
          <p:nvPr/>
        </p:nvSpPr>
        <p:spPr>
          <a:xfrm>
            <a:off x="8174553" y="5495544"/>
            <a:ext cx="1642811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CFB8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8174553" y="5495544"/>
            <a:ext cx="1642811" cy="54864"/>
          </a:xfrm>
          <a:prstGeom prst="rect">
            <a:avLst/>
          </a:prstGeom>
          <a:solidFill>
            <a:srgbClr val="1A2B26"/>
          </a:solidFill>
          <a:ln w="12700">
            <a:solidFill>
              <a:srgbClr val="1A2B26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8284281" y="5586984"/>
            <a:ext cx="14233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HRM &amp; Payroll</a:t>
            </a:r>
            <a:endParaRPr lang="en-US" sz="1150" dirty="0"/>
          </a:p>
        </p:txBody>
      </p:sp>
      <p:sp>
        <p:nvSpPr>
          <p:cNvPr id="72" name="Shape 70"/>
          <p:cNvSpPr/>
          <p:nvPr/>
        </p:nvSpPr>
        <p:spPr>
          <a:xfrm>
            <a:off x="9863084" y="5495544"/>
            <a:ext cx="1642811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CFB8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9863084" y="5495544"/>
            <a:ext cx="1642811" cy="54864"/>
          </a:xfrm>
          <a:prstGeom prst="rect">
            <a:avLst/>
          </a:prstGeom>
          <a:solidFill>
            <a:srgbClr val="1A2B26"/>
          </a:solidFill>
          <a:ln w="12700">
            <a:solidFill>
              <a:srgbClr val="1A2B26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9972812" y="5586984"/>
            <a:ext cx="14233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&amp; Assets</a:t>
            </a:r>
            <a:endParaRPr lang="en-US" sz="1150" dirty="0"/>
          </a:p>
        </p:txBody>
      </p:sp>
      <p:sp>
        <p:nvSpPr>
          <p:cNvPr id="75" name="Shape 73"/>
          <p:cNvSpPr/>
          <p:nvPr/>
        </p:nvSpPr>
        <p:spPr>
          <a:xfrm>
            <a:off x="502920" y="6473952"/>
            <a:ext cx="11185855" cy="0"/>
          </a:xfrm>
          <a:prstGeom prst="line">
            <a:avLst/>
          </a:prstGeom>
          <a:noFill/>
          <a:ln w="9525">
            <a:solidFill>
              <a:srgbClr val="D6CFB8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502920" y="652881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Dplux Technologies   ·   Quot PSA Briefing   ·   Presented by Jacob Osadiaye</a:t>
            </a:r>
            <a:endParaRPr lang="en-US" sz="900" dirty="0"/>
          </a:p>
        </p:txBody>
      </p:sp>
      <p:sp>
        <p:nvSpPr>
          <p:cNvPr id="77" name="Text 75"/>
          <p:cNvSpPr/>
          <p:nvPr/>
        </p:nvSpPr>
        <p:spPr>
          <a:xfrm>
            <a:off x="11323015" y="65288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F4C3A"/>
          </a:solidFill>
          <a:ln w="12700">
            <a:solidFill>
              <a:srgbClr val="0F4C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488375" y="36576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kern="0" spc="1200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TREASURY SINGLE ACCOUNT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02920" y="868680"/>
            <a:ext cx="1118585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4C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Treasury Single Account — whole-of-government cash visibility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02920" y="1828800"/>
            <a:ext cx="585216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CFB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874520" y="2514600"/>
            <a:ext cx="3108960" cy="640080"/>
          </a:xfrm>
          <a:prstGeom prst="rect">
            <a:avLst/>
          </a:prstGeom>
          <a:solidFill>
            <a:srgbClr val="0F4C3A"/>
          </a:solidFill>
          <a:ln w="12700">
            <a:solidFill>
              <a:srgbClr val="0F4C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74520" y="251460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Delta State Master TSA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429000" y="3154680"/>
            <a:ext cx="0" cy="41148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51560" y="3566160"/>
            <a:ext cx="475488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440180" y="3566160"/>
            <a:ext cx="0" cy="18288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68680" y="3749040"/>
            <a:ext cx="1143000" cy="548640"/>
          </a:xfrm>
          <a:prstGeom prst="rect">
            <a:avLst/>
          </a:prstGeom>
          <a:solidFill>
            <a:srgbClr val="1B7A5A"/>
          </a:solidFill>
          <a:ln w="12700">
            <a:solidFill>
              <a:srgbClr val="1B7A5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8680" y="3749040"/>
            <a:ext cx="1143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Ministry of Finance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1440180" y="4297680"/>
            <a:ext cx="0" cy="137160"/>
          </a:xfrm>
          <a:prstGeom prst="line">
            <a:avLst/>
          </a:prstGeom>
          <a:noFill/>
          <a:ln w="12700">
            <a:solidFill>
              <a:srgbClr val="D6CFB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60120" y="4434840"/>
            <a:ext cx="960120" cy="292608"/>
          </a:xfrm>
          <a:prstGeom prst="rect">
            <a:avLst/>
          </a:prstGeom>
          <a:solidFill>
            <a:srgbClr val="F7F4ED"/>
          </a:solidFill>
          <a:ln w="6350">
            <a:solidFill>
              <a:srgbClr val="D6CFB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60120" y="4434840"/>
            <a:ext cx="960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Sub-Acct 1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1440180" y="4297680"/>
            <a:ext cx="0" cy="548640"/>
          </a:xfrm>
          <a:prstGeom prst="line">
            <a:avLst/>
          </a:prstGeom>
          <a:noFill/>
          <a:ln w="12700">
            <a:solidFill>
              <a:srgbClr val="D6CFB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60120" y="4846320"/>
            <a:ext cx="960120" cy="292608"/>
          </a:xfrm>
          <a:prstGeom prst="rect">
            <a:avLst/>
          </a:prstGeom>
          <a:solidFill>
            <a:srgbClr val="F7F4ED"/>
          </a:solidFill>
          <a:ln w="6350">
            <a:solidFill>
              <a:srgbClr val="D6CFB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60120" y="4846320"/>
            <a:ext cx="960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Sub-Acct 2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2674620" y="3566160"/>
            <a:ext cx="0" cy="18288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103120" y="3749040"/>
            <a:ext cx="1143000" cy="548640"/>
          </a:xfrm>
          <a:prstGeom prst="rect">
            <a:avLst/>
          </a:prstGeom>
          <a:solidFill>
            <a:srgbClr val="1B7A5A"/>
          </a:solidFill>
          <a:ln w="12700">
            <a:solidFill>
              <a:srgbClr val="1B7A5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103120" y="3749040"/>
            <a:ext cx="1143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MDAs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2674620" y="4297680"/>
            <a:ext cx="0" cy="137160"/>
          </a:xfrm>
          <a:prstGeom prst="line">
            <a:avLst/>
          </a:prstGeom>
          <a:noFill/>
          <a:ln w="12700">
            <a:solidFill>
              <a:srgbClr val="D6CFB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194560" y="4434840"/>
            <a:ext cx="960120" cy="292608"/>
          </a:xfrm>
          <a:prstGeom prst="rect">
            <a:avLst/>
          </a:prstGeom>
          <a:solidFill>
            <a:srgbClr val="F7F4ED"/>
          </a:solidFill>
          <a:ln w="6350">
            <a:solidFill>
              <a:srgbClr val="D6CFB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194560" y="4434840"/>
            <a:ext cx="960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Sub-Acct 1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2674620" y="4297680"/>
            <a:ext cx="0" cy="548640"/>
          </a:xfrm>
          <a:prstGeom prst="line">
            <a:avLst/>
          </a:prstGeom>
          <a:noFill/>
          <a:ln w="12700">
            <a:solidFill>
              <a:srgbClr val="D6CFB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194560" y="4846320"/>
            <a:ext cx="960120" cy="292608"/>
          </a:xfrm>
          <a:prstGeom prst="rect">
            <a:avLst/>
          </a:prstGeom>
          <a:solidFill>
            <a:srgbClr val="F7F4ED"/>
          </a:solidFill>
          <a:ln w="6350">
            <a:solidFill>
              <a:srgbClr val="D6CFB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194560" y="4846320"/>
            <a:ext cx="960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Sub-Acct 2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3909060" y="3566160"/>
            <a:ext cx="0" cy="18288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337560" y="3749040"/>
            <a:ext cx="1143000" cy="548640"/>
          </a:xfrm>
          <a:prstGeom prst="rect">
            <a:avLst/>
          </a:prstGeom>
          <a:solidFill>
            <a:srgbClr val="1B7A5A"/>
          </a:solidFill>
          <a:ln w="12700">
            <a:solidFill>
              <a:srgbClr val="1B7A5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337560" y="3749040"/>
            <a:ext cx="1143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&amp; Housing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3909060" y="4297680"/>
            <a:ext cx="0" cy="137160"/>
          </a:xfrm>
          <a:prstGeom prst="line">
            <a:avLst/>
          </a:prstGeom>
          <a:noFill/>
          <a:ln w="12700">
            <a:solidFill>
              <a:srgbClr val="D6CFB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429000" y="4434840"/>
            <a:ext cx="960120" cy="292608"/>
          </a:xfrm>
          <a:prstGeom prst="rect">
            <a:avLst/>
          </a:prstGeom>
          <a:solidFill>
            <a:srgbClr val="F7F4ED"/>
          </a:solidFill>
          <a:ln w="6350">
            <a:solidFill>
              <a:srgbClr val="D6CFB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429000" y="4434840"/>
            <a:ext cx="960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Sub-Acct 1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3909060" y="4297680"/>
            <a:ext cx="0" cy="548640"/>
          </a:xfrm>
          <a:prstGeom prst="line">
            <a:avLst/>
          </a:prstGeom>
          <a:noFill/>
          <a:ln w="12700">
            <a:solidFill>
              <a:srgbClr val="D6CFB8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429000" y="4846320"/>
            <a:ext cx="960120" cy="292608"/>
          </a:xfrm>
          <a:prstGeom prst="rect">
            <a:avLst/>
          </a:prstGeom>
          <a:solidFill>
            <a:srgbClr val="F7F4ED"/>
          </a:solidFill>
          <a:ln w="6350">
            <a:solidFill>
              <a:srgbClr val="D6CFB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429000" y="4846320"/>
            <a:ext cx="960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Sub-Acct 2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5143500" y="3566160"/>
            <a:ext cx="0" cy="18288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572000" y="3749040"/>
            <a:ext cx="1143000" cy="548640"/>
          </a:xfrm>
          <a:prstGeom prst="rect">
            <a:avLst/>
          </a:prstGeom>
          <a:solidFill>
            <a:srgbClr val="1B7A5A"/>
          </a:solidFill>
          <a:ln w="12700">
            <a:solidFill>
              <a:srgbClr val="1B7A5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572000" y="3749040"/>
            <a:ext cx="1143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 MDAs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5143500" y="4297680"/>
            <a:ext cx="0" cy="137160"/>
          </a:xfrm>
          <a:prstGeom prst="line">
            <a:avLst/>
          </a:prstGeom>
          <a:noFill/>
          <a:ln w="12700">
            <a:solidFill>
              <a:srgbClr val="D6CFB8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663440" y="4434840"/>
            <a:ext cx="960120" cy="292608"/>
          </a:xfrm>
          <a:prstGeom prst="rect">
            <a:avLst/>
          </a:prstGeom>
          <a:solidFill>
            <a:srgbClr val="F7F4ED"/>
          </a:solidFill>
          <a:ln w="6350">
            <a:solidFill>
              <a:srgbClr val="D6CFB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663440" y="4434840"/>
            <a:ext cx="960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Sub-Acct 1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5143500" y="4297680"/>
            <a:ext cx="0" cy="548640"/>
          </a:xfrm>
          <a:prstGeom prst="line">
            <a:avLst/>
          </a:prstGeom>
          <a:noFill/>
          <a:ln w="12700">
            <a:solidFill>
              <a:srgbClr val="D6CFB8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663440" y="4846320"/>
            <a:ext cx="960120" cy="292608"/>
          </a:xfrm>
          <a:prstGeom prst="rect">
            <a:avLst/>
          </a:prstGeom>
          <a:solidFill>
            <a:srgbClr val="F7F4ED"/>
          </a:solidFill>
          <a:ln w="6350">
            <a:solidFill>
              <a:srgbClr val="D6CFB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663440" y="4846320"/>
            <a:ext cx="960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Sub-Acct 2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731520" y="521208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MDA sub-account reconciles to the master daily — no shadow ledgers.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7116775" y="1828800"/>
            <a:ext cx="4572000" cy="4206240"/>
          </a:xfrm>
          <a:prstGeom prst="rect">
            <a:avLst/>
          </a:prstGeom>
          <a:solidFill>
            <a:srgbClr val="0F4C3A"/>
          </a:solidFill>
          <a:ln w="12700">
            <a:solidFill>
              <a:srgbClr val="0F4C3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391095" y="196596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400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Quot PSA provides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7345375" y="2404872"/>
            <a:ext cx="292608" cy="292608"/>
          </a:xfrm>
          <a:prstGeom prst="ellipse">
            <a:avLst/>
          </a:prstGeom>
          <a:solidFill>
            <a:srgbClr val="1B7A5A"/>
          </a:solidFill>
          <a:ln w="12700">
            <a:solidFill>
              <a:srgbClr val="1B7A5A"/>
            </a:solidFill>
            <a:prstDash val="solid"/>
          </a:ln>
        </p:spPr>
      </p:sp>
      <p:pic>
        <p:nvPicPr>
          <p:cNvPr id="5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11212" y="2470709"/>
            <a:ext cx="160934" cy="160934"/>
          </a:xfrm>
          <a:prstGeom prst="rect">
            <a:avLst/>
          </a:prstGeom>
        </p:spPr>
      </p:pic>
      <p:sp>
        <p:nvSpPr>
          <p:cNvPr id="54" name="Text 51"/>
          <p:cNvSpPr/>
          <p:nvPr/>
        </p:nvSpPr>
        <p:spPr>
          <a:xfrm>
            <a:off x="7756855" y="23317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MDA balances</a:t>
            </a:r>
            <a:endParaRPr lang="en-US" sz="1200" dirty="0"/>
          </a:p>
        </p:txBody>
      </p:sp>
      <p:sp>
        <p:nvSpPr>
          <p:cNvPr id="55" name="Text 52"/>
          <p:cNvSpPr/>
          <p:nvPr/>
        </p:nvSpPr>
        <p:spPr>
          <a:xfrm>
            <a:off x="7756855" y="260604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7F4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position per sub-account, refreshed on every payment.</a:t>
            </a:r>
            <a:endParaRPr lang="en-US" sz="1000" dirty="0"/>
          </a:p>
        </p:txBody>
      </p:sp>
      <p:sp>
        <p:nvSpPr>
          <p:cNvPr id="56" name="Shape 53"/>
          <p:cNvSpPr/>
          <p:nvPr/>
        </p:nvSpPr>
        <p:spPr>
          <a:xfrm>
            <a:off x="7345375" y="3118104"/>
            <a:ext cx="292608" cy="292608"/>
          </a:xfrm>
          <a:prstGeom prst="ellipse">
            <a:avLst/>
          </a:prstGeom>
          <a:solidFill>
            <a:srgbClr val="1B7A5A"/>
          </a:solidFill>
          <a:ln w="12700">
            <a:solidFill>
              <a:srgbClr val="1B7A5A"/>
            </a:solidFill>
            <a:prstDash val="solid"/>
          </a:ln>
        </p:spPr>
      </p:sp>
      <p:pic>
        <p:nvPicPr>
          <p:cNvPr id="57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11212" y="3183941"/>
            <a:ext cx="160934" cy="160934"/>
          </a:xfrm>
          <a:prstGeom prst="rect">
            <a:avLst/>
          </a:prstGeom>
        </p:spPr>
      </p:pic>
      <p:sp>
        <p:nvSpPr>
          <p:cNvPr id="58" name="Text 54"/>
          <p:cNvSpPr/>
          <p:nvPr/>
        </p:nvSpPr>
        <p:spPr>
          <a:xfrm>
            <a:off x="7756855" y="304495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TSA → GL</a:t>
            </a:r>
            <a:endParaRPr lang="en-US" sz="1200" dirty="0"/>
          </a:p>
        </p:txBody>
      </p:sp>
      <p:sp>
        <p:nvSpPr>
          <p:cNvPr id="59" name="Text 55"/>
          <p:cNvSpPr/>
          <p:nvPr/>
        </p:nvSpPr>
        <p:spPr>
          <a:xfrm>
            <a:off x="7756855" y="3319272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7F4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Movements resolve to the right GL account so cash-flow statements reconcile exactly.</a:t>
            </a:r>
            <a:endParaRPr lang="en-US" sz="1000" dirty="0"/>
          </a:p>
        </p:txBody>
      </p:sp>
      <p:sp>
        <p:nvSpPr>
          <p:cNvPr id="60" name="Shape 56"/>
          <p:cNvSpPr/>
          <p:nvPr/>
        </p:nvSpPr>
        <p:spPr>
          <a:xfrm>
            <a:off x="7345375" y="3831336"/>
            <a:ext cx="292608" cy="292608"/>
          </a:xfrm>
          <a:prstGeom prst="ellipse">
            <a:avLst/>
          </a:prstGeom>
          <a:solidFill>
            <a:srgbClr val="1B7A5A"/>
          </a:solidFill>
          <a:ln w="12700">
            <a:solidFill>
              <a:srgbClr val="1B7A5A"/>
            </a:solidFill>
            <a:prstDash val="solid"/>
          </a:ln>
        </p:spPr>
      </p:sp>
      <p:pic>
        <p:nvPicPr>
          <p:cNvPr id="6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11212" y="3897173"/>
            <a:ext cx="160934" cy="160934"/>
          </a:xfrm>
          <a:prstGeom prst="rect">
            <a:avLst/>
          </a:prstGeom>
        </p:spPr>
      </p:pic>
      <p:sp>
        <p:nvSpPr>
          <p:cNvPr id="62" name="Text 57"/>
          <p:cNvSpPr/>
          <p:nvPr/>
        </p:nvSpPr>
        <p:spPr>
          <a:xfrm>
            <a:off x="7756855" y="375818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Race-safe bank reconciliation</a:t>
            </a:r>
            <a:endParaRPr lang="en-US" sz="1200" dirty="0"/>
          </a:p>
        </p:txBody>
      </p:sp>
      <p:sp>
        <p:nvSpPr>
          <p:cNvPr id="63" name="Text 58"/>
          <p:cNvSpPr/>
          <p:nvPr/>
        </p:nvSpPr>
        <p:spPr>
          <a:xfrm>
            <a:off x="7756855" y="4032504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7F4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Statement auto-match against CBN with row-level locking. No double-match.</a:t>
            </a:r>
            <a:endParaRPr lang="en-US" sz="1000" dirty="0"/>
          </a:p>
        </p:txBody>
      </p:sp>
      <p:sp>
        <p:nvSpPr>
          <p:cNvPr id="64" name="Shape 59"/>
          <p:cNvSpPr/>
          <p:nvPr/>
        </p:nvSpPr>
        <p:spPr>
          <a:xfrm>
            <a:off x="7345375" y="4544568"/>
            <a:ext cx="292608" cy="292608"/>
          </a:xfrm>
          <a:prstGeom prst="ellipse">
            <a:avLst/>
          </a:prstGeom>
          <a:solidFill>
            <a:srgbClr val="1B7A5A"/>
          </a:solidFill>
          <a:ln w="12700">
            <a:solidFill>
              <a:srgbClr val="1B7A5A"/>
            </a:solidFill>
            <a:prstDash val="solid"/>
          </a:ln>
        </p:spPr>
      </p:sp>
      <p:pic>
        <p:nvPicPr>
          <p:cNvPr id="65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11212" y="4610405"/>
            <a:ext cx="160934" cy="160934"/>
          </a:xfrm>
          <a:prstGeom prst="rect">
            <a:avLst/>
          </a:prstGeom>
        </p:spPr>
      </p:pic>
      <p:sp>
        <p:nvSpPr>
          <p:cNvPr id="66" name="Text 60"/>
          <p:cNvSpPr/>
          <p:nvPr/>
        </p:nvSpPr>
        <p:spPr>
          <a:xfrm>
            <a:off x="7756855" y="447141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Mirror sync via signals</a:t>
            </a:r>
            <a:endParaRPr lang="en-US" sz="1200" dirty="0"/>
          </a:p>
        </p:txBody>
      </p:sp>
      <p:sp>
        <p:nvSpPr>
          <p:cNvPr id="67" name="Text 61"/>
          <p:cNvSpPr/>
          <p:nvPr/>
        </p:nvSpPr>
        <p:spPr>
          <a:xfrm>
            <a:off x="7756855" y="4745736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7F4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Updates only on confirmed payment events — never on read endpoints.</a:t>
            </a:r>
            <a:endParaRPr lang="en-US" sz="1000" dirty="0"/>
          </a:p>
        </p:txBody>
      </p:sp>
      <p:sp>
        <p:nvSpPr>
          <p:cNvPr id="68" name="Shape 62"/>
          <p:cNvSpPr/>
          <p:nvPr/>
        </p:nvSpPr>
        <p:spPr>
          <a:xfrm>
            <a:off x="7345375" y="5257800"/>
            <a:ext cx="292608" cy="292608"/>
          </a:xfrm>
          <a:prstGeom prst="ellipse">
            <a:avLst/>
          </a:prstGeom>
          <a:solidFill>
            <a:srgbClr val="1B7A5A"/>
          </a:solidFill>
          <a:ln w="12700">
            <a:solidFill>
              <a:srgbClr val="1B7A5A"/>
            </a:solidFill>
            <a:prstDash val="solid"/>
          </a:ln>
        </p:spPr>
      </p:sp>
      <p:pic>
        <p:nvPicPr>
          <p:cNvPr id="69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11212" y="5323637"/>
            <a:ext cx="160934" cy="160934"/>
          </a:xfrm>
          <a:prstGeom prst="rect">
            <a:avLst/>
          </a:prstGeom>
        </p:spPr>
      </p:pic>
      <p:sp>
        <p:nvSpPr>
          <p:cNvPr id="70" name="Text 63"/>
          <p:cNvSpPr/>
          <p:nvPr/>
        </p:nvSpPr>
        <p:spPr>
          <a:xfrm>
            <a:off x="7756855" y="518464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Consolidated dashboard</a:t>
            </a:r>
            <a:endParaRPr lang="en-US" sz="1200" dirty="0"/>
          </a:p>
        </p:txBody>
      </p:sp>
      <p:sp>
        <p:nvSpPr>
          <p:cNvPr id="71" name="Text 64"/>
          <p:cNvSpPr/>
          <p:nvPr/>
        </p:nvSpPr>
        <p:spPr>
          <a:xfrm>
            <a:off x="7756855" y="5458968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7F4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the Accountant-General — drill-down by MDA, fund, and sub-account.</a:t>
            </a:r>
            <a:endParaRPr lang="en-US" sz="1000" dirty="0"/>
          </a:p>
        </p:txBody>
      </p:sp>
      <p:sp>
        <p:nvSpPr>
          <p:cNvPr id="72" name="Shape 65"/>
          <p:cNvSpPr/>
          <p:nvPr/>
        </p:nvSpPr>
        <p:spPr>
          <a:xfrm>
            <a:off x="502920" y="6473952"/>
            <a:ext cx="11185855" cy="0"/>
          </a:xfrm>
          <a:prstGeom prst="line">
            <a:avLst/>
          </a:prstGeom>
          <a:noFill/>
          <a:ln w="9525">
            <a:solidFill>
              <a:srgbClr val="D6CFB8"/>
            </a:solidFill>
            <a:prstDash val="solid"/>
          </a:ln>
        </p:spPr>
      </p:sp>
      <p:sp>
        <p:nvSpPr>
          <p:cNvPr id="73" name="Text 66"/>
          <p:cNvSpPr/>
          <p:nvPr/>
        </p:nvSpPr>
        <p:spPr>
          <a:xfrm>
            <a:off x="502920" y="652881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Dplux Technologies   ·   Quot PSA Briefing   ·   Presented by Jacob Osadiaye</a:t>
            </a:r>
            <a:endParaRPr lang="en-US" sz="900" dirty="0"/>
          </a:p>
        </p:txBody>
      </p:sp>
      <p:sp>
        <p:nvSpPr>
          <p:cNvPr id="74" name="Text 67"/>
          <p:cNvSpPr/>
          <p:nvPr/>
        </p:nvSpPr>
        <p:spPr>
          <a:xfrm>
            <a:off x="11323015" y="65288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F4C3A"/>
          </a:solidFill>
          <a:ln w="12700">
            <a:solidFill>
              <a:srgbClr val="0F4C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488375" y="36576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kern="0" spc="1200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CONTROL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02920" y="868680"/>
            <a:ext cx="1118585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4C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Appropriation is law — and it is enforced before the order is placed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02920" y="1874520"/>
            <a:ext cx="1826209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CFB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1874520"/>
            <a:ext cx="1826209" cy="329184"/>
          </a:xfrm>
          <a:prstGeom prst="rect">
            <a:avLst/>
          </a:prstGeom>
          <a:solidFill>
            <a:srgbClr val="0F4C3A"/>
          </a:solidFill>
          <a:ln w="12700">
            <a:solidFill>
              <a:srgbClr val="0F4C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911096"/>
            <a:ext cx="164332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800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1187425" y="2331720"/>
            <a:ext cx="457200" cy="457200"/>
          </a:xfrm>
          <a:prstGeom prst="ellipse">
            <a:avLst/>
          </a:prstGeom>
          <a:solidFill>
            <a:srgbClr val="F7F4ED"/>
          </a:solidFill>
          <a:ln w="12700">
            <a:solidFill>
              <a:srgbClr val="F7F4ED"/>
            </a:solidFill>
            <a:prstDash val="solid"/>
          </a:ln>
        </p:spPr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0295" y="2434590"/>
            <a:ext cx="251460" cy="25146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594360" y="2834640"/>
            <a:ext cx="164332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A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MTEF Envelope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594360" y="3044952"/>
            <a:ext cx="164332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Multi-year sector ceilings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2374849" y="1874520"/>
            <a:ext cx="1826209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CFB8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2374849" y="1874520"/>
            <a:ext cx="1826209" cy="329184"/>
          </a:xfrm>
          <a:prstGeom prst="rect">
            <a:avLst/>
          </a:prstGeom>
          <a:solidFill>
            <a:srgbClr val="0F4C3A"/>
          </a:solidFill>
          <a:ln w="12700">
            <a:solidFill>
              <a:srgbClr val="0F4C3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2466289" y="1911096"/>
            <a:ext cx="164332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800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3059354" y="2331720"/>
            <a:ext cx="457200" cy="457200"/>
          </a:xfrm>
          <a:prstGeom prst="ellipse">
            <a:avLst/>
          </a:prstGeom>
          <a:solidFill>
            <a:srgbClr val="F7F4ED"/>
          </a:solidFill>
          <a:ln w="12700">
            <a:solidFill>
              <a:srgbClr val="F7F4ED"/>
            </a:solidFill>
            <a:prstDash val="solid"/>
          </a:ln>
        </p:spPr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62224" y="2434590"/>
            <a:ext cx="251460" cy="25146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2466289" y="2834640"/>
            <a:ext cx="164332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A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Appropriation Act</a:t>
            </a:r>
            <a:endParaRPr lang="en-US" sz="1150" dirty="0"/>
          </a:p>
        </p:txBody>
      </p:sp>
      <p:sp>
        <p:nvSpPr>
          <p:cNvPr id="20" name="Text 16"/>
          <p:cNvSpPr/>
          <p:nvPr/>
        </p:nvSpPr>
        <p:spPr>
          <a:xfrm>
            <a:off x="2466289" y="3044952"/>
            <a:ext cx="164332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Enacted, line-locked</a:t>
            </a:r>
            <a:endParaRPr lang="en-US" sz="900" dirty="0"/>
          </a:p>
        </p:txBody>
      </p:sp>
      <p:sp>
        <p:nvSpPr>
          <p:cNvPr id="21" name="Shape 17"/>
          <p:cNvSpPr/>
          <p:nvPr/>
        </p:nvSpPr>
        <p:spPr>
          <a:xfrm>
            <a:off x="4246778" y="1874520"/>
            <a:ext cx="1826209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CFB8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4246778" y="1874520"/>
            <a:ext cx="1826209" cy="329184"/>
          </a:xfrm>
          <a:prstGeom prst="rect">
            <a:avLst/>
          </a:prstGeom>
          <a:solidFill>
            <a:srgbClr val="0F4C3A"/>
          </a:solidFill>
          <a:ln w="12700">
            <a:solidFill>
              <a:srgbClr val="0F4C3A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4338218" y="1911096"/>
            <a:ext cx="164332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800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3</a:t>
            </a:r>
            <a:endParaRPr lang="en-US" sz="950" dirty="0"/>
          </a:p>
        </p:txBody>
      </p:sp>
      <p:sp>
        <p:nvSpPr>
          <p:cNvPr id="24" name="Shape 20"/>
          <p:cNvSpPr/>
          <p:nvPr/>
        </p:nvSpPr>
        <p:spPr>
          <a:xfrm>
            <a:off x="4931283" y="2331720"/>
            <a:ext cx="457200" cy="457200"/>
          </a:xfrm>
          <a:prstGeom prst="ellipse">
            <a:avLst/>
          </a:prstGeom>
          <a:solidFill>
            <a:srgbClr val="F7F4ED"/>
          </a:solidFill>
          <a:ln w="12700">
            <a:solidFill>
              <a:srgbClr val="F7F4ED"/>
            </a:solidFill>
            <a:prstDash val="solid"/>
          </a:ln>
        </p:spPr>
      </p:sp>
      <p:pic>
        <p:nvPicPr>
          <p:cNvPr id="2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34153" y="2434590"/>
            <a:ext cx="251460" cy="251460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4338218" y="2834640"/>
            <a:ext cx="164332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A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Warrant / AIE</a:t>
            </a:r>
            <a:endParaRPr lang="en-US" sz="1150" dirty="0"/>
          </a:p>
        </p:txBody>
      </p:sp>
      <p:sp>
        <p:nvSpPr>
          <p:cNvPr id="27" name="Text 22"/>
          <p:cNvSpPr/>
          <p:nvPr/>
        </p:nvSpPr>
        <p:spPr>
          <a:xfrm>
            <a:off x="4338218" y="3044952"/>
            <a:ext cx="164332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Released to MDA</a:t>
            </a:r>
            <a:endParaRPr lang="en-US" sz="900" dirty="0"/>
          </a:p>
        </p:txBody>
      </p:sp>
      <p:sp>
        <p:nvSpPr>
          <p:cNvPr id="28" name="Shape 23"/>
          <p:cNvSpPr/>
          <p:nvPr/>
        </p:nvSpPr>
        <p:spPr>
          <a:xfrm>
            <a:off x="6118708" y="1874520"/>
            <a:ext cx="1826209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CFB8"/>
            </a:solidFill>
            <a:prstDash val="solid"/>
          </a:ln>
        </p:spPr>
      </p:sp>
      <p:sp>
        <p:nvSpPr>
          <p:cNvPr id="29" name="Shape 24"/>
          <p:cNvSpPr/>
          <p:nvPr/>
        </p:nvSpPr>
        <p:spPr>
          <a:xfrm>
            <a:off x="6118708" y="1874520"/>
            <a:ext cx="1826209" cy="329184"/>
          </a:xfrm>
          <a:prstGeom prst="rect">
            <a:avLst/>
          </a:prstGeom>
          <a:solidFill>
            <a:srgbClr val="0F4C3A"/>
          </a:solidFill>
          <a:ln w="12700">
            <a:solidFill>
              <a:srgbClr val="0F4C3A"/>
            </a:solidFill>
            <a:prstDash val="solid"/>
          </a:ln>
        </p:spPr>
      </p:sp>
      <p:sp>
        <p:nvSpPr>
          <p:cNvPr id="30" name="Text 25"/>
          <p:cNvSpPr/>
          <p:nvPr/>
        </p:nvSpPr>
        <p:spPr>
          <a:xfrm>
            <a:off x="6210148" y="1911096"/>
            <a:ext cx="164332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800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4</a:t>
            </a:r>
            <a:endParaRPr lang="en-US" sz="950" dirty="0"/>
          </a:p>
        </p:txBody>
      </p:sp>
      <p:sp>
        <p:nvSpPr>
          <p:cNvPr id="31" name="Shape 26"/>
          <p:cNvSpPr/>
          <p:nvPr/>
        </p:nvSpPr>
        <p:spPr>
          <a:xfrm>
            <a:off x="6803212" y="2331720"/>
            <a:ext cx="457200" cy="457200"/>
          </a:xfrm>
          <a:prstGeom prst="ellipse">
            <a:avLst/>
          </a:prstGeom>
          <a:solidFill>
            <a:srgbClr val="F7F4ED"/>
          </a:solidFill>
          <a:ln w="12700">
            <a:solidFill>
              <a:srgbClr val="F7F4ED"/>
            </a:solidFill>
            <a:prstDash val="solid"/>
          </a:ln>
        </p:spPr>
      </p:sp>
      <p:pic>
        <p:nvPicPr>
          <p:cNvPr id="3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06082" y="2434590"/>
            <a:ext cx="251460" cy="251460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6210148" y="2834640"/>
            <a:ext cx="164332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A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 &amp; LPO</a:t>
            </a:r>
            <a:endParaRPr lang="en-US" sz="1150" dirty="0"/>
          </a:p>
        </p:txBody>
      </p:sp>
      <p:sp>
        <p:nvSpPr>
          <p:cNvPr id="34" name="Text 28"/>
          <p:cNvSpPr/>
          <p:nvPr/>
        </p:nvSpPr>
        <p:spPr>
          <a:xfrm>
            <a:off x="6210148" y="3044952"/>
            <a:ext cx="164332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Commitment encumbered</a:t>
            </a:r>
            <a:endParaRPr lang="en-US" sz="900" dirty="0"/>
          </a:p>
        </p:txBody>
      </p:sp>
      <p:sp>
        <p:nvSpPr>
          <p:cNvPr id="35" name="Shape 29"/>
          <p:cNvSpPr/>
          <p:nvPr/>
        </p:nvSpPr>
        <p:spPr>
          <a:xfrm>
            <a:off x="7990637" y="1874520"/>
            <a:ext cx="1826209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CFB8"/>
            </a:solidFill>
            <a:prstDash val="solid"/>
          </a:ln>
        </p:spPr>
      </p:sp>
      <p:sp>
        <p:nvSpPr>
          <p:cNvPr id="36" name="Shape 30"/>
          <p:cNvSpPr/>
          <p:nvPr/>
        </p:nvSpPr>
        <p:spPr>
          <a:xfrm>
            <a:off x="7990637" y="1874520"/>
            <a:ext cx="1826209" cy="329184"/>
          </a:xfrm>
          <a:prstGeom prst="rect">
            <a:avLst/>
          </a:prstGeom>
          <a:solidFill>
            <a:srgbClr val="0F4C3A"/>
          </a:solidFill>
          <a:ln w="12700">
            <a:solidFill>
              <a:srgbClr val="0F4C3A"/>
            </a:solidFill>
            <a:prstDash val="solid"/>
          </a:ln>
        </p:spPr>
      </p:sp>
      <p:sp>
        <p:nvSpPr>
          <p:cNvPr id="37" name="Text 31"/>
          <p:cNvSpPr/>
          <p:nvPr/>
        </p:nvSpPr>
        <p:spPr>
          <a:xfrm>
            <a:off x="8082077" y="1911096"/>
            <a:ext cx="164332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800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5</a:t>
            </a:r>
            <a:endParaRPr lang="en-US" sz="950" dirty="0"/>
          </a:p>
        </p:txBody>
      </p:sp>
      <p:sp>
        <p:nvSpPr>
          <p:cNvPr id="38" name="Shape 32"/>
          <p:cNvSpPr/>
          <p:nvPr/>
        </p:nvSpPr>
        <p:spPr>
          <a:xfrm>
            <a:off x="8675141" y="2331720"/>
            <a:ext cx="457200" cy="457200"/>
          </a:xfrm>
          <a:prstGeom prst="ellipse">
            <a:avLst/>
          </a:prstGeom>
          <a:solidFill>
            <a:srgbClr val="F7F4ED"/>
          </a:solidFill>
          <a:ln w="12700">
            <a:solidFill>
              <a:srgbClr val="F7F4ED"/>
            </a:solidFill>
            <a:prstDash val="solid"/>
          </a:ln>
        </p:spPr>
      </p:sp>
      <p:pic>
        <p:nvPicPr>
          <p:cNvPr id="3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78011" y="2434590"/>
            <a:ext cx="251460" cy="251460"/>
          </a:xfrm>
          <a:prstGeom prst="rect">
            <a:avLst/>
          </a:prstGeom>
        </p:spPr>
      </p:pic>
      <p:sp>
        <p:nvSpPr>
          <p:cNvPr id="40" name="Text 33"/>
          <p:cNvSpPr/>
          <p:nvPr/>
        </p:nvSpPr>
        <p:spPr>
          <a:xfrm>
            <a:off x="8082077" y="2834640"/>
            <a:ext cx="164332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A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 / IPC</a:t>
            </a:r>
            <a:endParaRPr lang="en-US" sz="1150" dirty="0"/>
          </a:p>
        </p:txBody>
      </p:sp>
      <p:sp>
        <p:nvSpPr>
          <p:cNvPr id="41" name="Text 34"/>
          <p:cNvSpPr/>
          <p:nvPr/>
        </p:nvSpPr>
        <p:spPr>
          <a:xfrm>
            <a:off x="8082077" y="3044952"/>
            <a:ext cx="164332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3-way match</a:t>
            </a:r>
            <a:endParaRPr lang="en-US" sz="900" dirty="0"/>
          </a:p>
        </p:txBody>
      </p:sp>
      <p:sp>
        <p:nvSpPr>
          <p:cNvPr id="42" name="Shape 35"/>
          <p:cNvSpPr/>
          <p:nvPr/>
        </p:nvSpPr>
        <p:spPr>
          <a:xfrm>
            <a:off x="9862566" y="1874520"/>
            <a:ext cx="1826209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CFB8"/>
            </a:solidFill>
            <a:prstDash val="solid"/>
          </a:ln>
        </p:spPr>
      </p:sp>
      <p:sp>
        <p:nvSpPr>
          <p:cNvPr id="43" name="Shape 36"/>
          <p:cNvSpPr/>
          <p:nvPr/>
        </p:nvSpPr>
        <p:spPr>
          <a:xfrm>
            <a:off x="9862566" y="1874520"/>
            <a:ext cx="1826209" cy="329184"/>
          </a:xfrm>
          <a:prstGeom prst="rect">
            <a:avLst/>
          </a:prstGeom>
          <a:solidFill>
            <a:srgbClr val="0F4C3A"/>
          </a:solidFill>
          <a:ln w="12700">
            <a:solidFill>
              <a:srgbClr val="0F4C3A"/>
            </a:solidFill>
            <a:prstDash val="solid"/>
          </a:ln>
        </p:spPr>
      </p:sp>
      <p:sp>
        <p:nvSpPr>
          <p:cNvPr id="44" name="Text 37"/>
          <p:cNvSpPr/>
          <p:nvPr/>
        </p:nvSpPr>
        <p:spPr>
          <a:xfrm>
            <a:off x="9954006" y="1911096"/>
            <a:ext cx="164332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800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6</a:t>
            </a:r>
            <a:endParaRPr lang="en-US" sz="950" dirty="0"/>
          </a:p>
        </p:txBody>
      </p:sp>
      <p:sp>
        <p:nvSpPr>
          <p:cNvPr id="45" name="Shape 38"/>
          <p:cNvSpPr/>
          <p:nvPr/>
        </p:nvSpPr>
        <p:spPr>
          <a:xfrm>
            <a:off x="10547071" y="2331720"/>
            <a:ext cx="457200" cy="457200"/>
          </a:xfrm>
          <a:prstGeom prst="ellipse">
            <a:avLst/>
          </a:prstGeom>
          <a:solidFill>
            <a:srgbClr val="F7F4ED"/>
          </a:solidFill>
          <a:ln w="12700">
            <a:solidFill>
              <a:srgbClr val="F7F4ED"/>
            </a:solidFill>
            <a:prstDash val="solid"/>
          </a:ln>
        </p:spPr>
      </p:sp>
      <p:pic>
        <p:nvPicPr>
          <p:cNvPr id="46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649941" y="2434590"/>
            <a:ext cx="251460" cy="251460"/>
          </a:xfrm>
          <a:prstGeom prst="rect">
            <a:avLst/>
          </a:prstGeom>
        </p:spPr>
      </p:pic>
      <p:sp>
        <p:nvSpPr>
          <p:cNvPr id="47" name="Text 39"/>
          <p:cNvSpPr/>
          <p:nvPr/>
        </p:nvSpPr>
        <p:spPr>
          <a:xfrm>
            <a:off x="9954006" y="2834640"/>
            <a:ext cx="164332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A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Voucher &amp; Mandate</a:t>
            </a:r>
            <a:endParaRPr lang="en-US" sz="1150" dirty="0"/>
          </a:p>
        </p:txBody>
      </p:sp>
      <p:sp>
        <p:nvSpPr>
          <p:cNvPr id="48" name="Text 40"/>
          <p:cNvSpPr/>
          <p:nvPr/>
        </p:nvSpPr>
        <p:spPr>
          <a:xfrm>
            <a:off x="9954006" y="3044952"/>
            <a:ext cx="164332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to TSA</a:t>
            </a:r>
            <a:endParaRPr lang="en-US" sz="900" dirty="0"/>
          </a:p>
        </p:txBody>
      </p:sp>
      <p:sp>
        <p:nvSpPr>
          <p:cNvPr id="49" name="Text 41"/>
          <p:cNvSpPr/>
          <p:nvPr/>
        </p:nvSpPr>
        <p:spPr>
          <a:xfrm>
            <a:off x="502920" y="361188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800" dirty="0">
                <a:solidFill>
                  <a:srgbClr val="A880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Gates the system enforces</a:t>
            </a:r>
            <a:endParaRPr lang="en-US" sz="1200" dirty="0"/>
          </a:p>
        </p:txBody>
      </p:sp>
      <p:sp>
        <p:nvSpPr>
          <p:cNvPr id="50" name="Shape 42"/>
          <p:cNvSpPr/>
          <p:nvPr/>
        </p:nvSpPr>
        <p:spPr>
          <a:xfrm>
            <a:off x="502920" y="3977640"/>
            <a:ext cx="11185855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D6CFB8"/>
            </a:solidFill>
            <a:prstDash val="solid"/>
          </a:ln>
        </p:spPr>
      </p:sp>
      <p:sp>
        <p:nvSpPr>
          <p:cNvPr id="51" name="Shape 43"/>
          <p:cNvSpPr/>
          <p:nvPr/>
        </p:nvSpPr>
        <p:spPr>
          <a:xfrm>
            <a:off x="502920" y="3977640"/>
            <a:ext cx="2377440" cy="329184"/>
          </a:xfrm>
          <a:prstGeom prst="rect">
            <a:avLst/>
          </a:prstGeom>
          <a:solidFill>
            <a:srgbClr val="0F4C3A"/>
          </a:solidFill>
          <a:ln w="12700">
            <a:solidFill>
              <a:srgbClr val="0F4C3A"/>
            </a:solidFill>
            <a:prstDash val="solid"/>
          </a:ln>
        </p:spPr>
      </p:sp>
      <p:sp>
        <p:nvSpPr>
          <p:cNvPr id="52" name="Text 44"/>
          <p:cNvSpPr/>
          <p:nvPr/>
        </p:nvSpPr>
        <p:spPr>
          <a:xfrm>
            <a:off x="685800" y="3977640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Pre-commitment</a:t>
            </a:r>
            <a:endParaRPr lang="en-US" sz="1150" dirty="0"/>
          </a:p>
        </p:txBody>
      </p:sp>
      <p:sp>
        <p:nvSpPr>
          <p:cNvPr id="53" name="Text 45"/>
          <p:cNvSpPr/>
          <p:nvPr/>
        </p:nvSpPr>
        <p:spPr>
          <a:xfrm>
            <a:off x="3108960" y="3977640"/>
            <a:ext cx="848837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line balance ≥ commitment   ·   Warrant unexpired   ·   Fund matches</a:t>
            </a:r>
            <a:endParaRPr lang="en-US" sz="1100" dirty="0"/>
          </a:p>
        </p:txBody>
      </p:sp>
      <p:sp>
        <p:nvSpPr>
          <p:cNvPr id="54" name="Shape 46"/>
          <p:cNvSpPr/>
          <p:nvPr/>
        </p:nvSpPr>
        <p:spPr>
          <a:xfrm>
            <a:off x="502920" y="4361688"/>
            <a:ext cx="11185855" cy="329184"/>
          </a:xfrm>
          <a:prstGeom prst="rect">
            <a:avLst/>
          </a:prstGeom>
          <a:solidFill>
            <a:srgbClr val="EFEAD9"/>
          </a:solidFill>
          <a:ln w="6350">
            <a:solidFill>
              <a:srgbClr val="D6CFB8"/>
            </a:solidFill>
            <a:prstDash val="solid"/>
          </a:ln>
        </p:spPr>
      </p:sp>
      <p:sp>
        <p:nvSpPr>
          <p:cNvPr id="55" name="Shape 47"/>
          <p:cNvSpPr/>
          <p:nvPr/>
        </p:nvSpPr>
        <p:spPr>
          <a:xfrm>
            <a:off x="502920" y="4361688"/>
            <a:ext cx="2377440" cy="329184"/>
          </a:xfrm>
          <a:prstGeom prst="rect">
            <a:avLst/>
          </a:prstGeom>
          <a:solidFill>
            <a:srgbClr val="0F4C3A"/>
          </a:solidFill>
          <a:ln w="12700">
            <a:solidFill>
              <a:srgbClr val="0F4C3A"/>
            </a:solidFill>
            <a:prstDash val="solid"/>
          </a:ln>
        </p:spPr>
      </p:sp>
      <p:sp>
        <p:nvSpPr>
          <p:cNvPr id="56" name="Text 48"/>
          <p:cNvSpPr/>
          <p:nvPr/>
        </p:nvSpPr>
        <p:spPr>
          <a:xfrm>
            <a:off x="685800" y="4361688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SoD enforcement</a:t>
            </a:r>
            <a:endParaRPr lang="en-US" sz="1150" dirty="0"/>
          </a:p>
        </p:txBody>
      </p:sp>
      <p:sp>
        <p:nvSpPr>
          <p:cNvPr id="57" name="Text 49"/>
          <p:cNvSpPr/>
          <p:nvPr/>
        </p:nvSpPr>
        <p:spPr>
          <a:xfrm>
            <a:off x="3108960" y="4361688"/>
            <a:ext cx="848837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Originator ≠ approver on every approval action — centrally evaluated</a:t>
            </a:r>
            <a:endParaRPr lang="en-US" sz="1100" dirty="0"/>
          </a:p>
        </p:txBody>
      </p:sp>
      <p:sp>
        <p:nvSpPr>
          <p:cNvPr id="58" name="Shape 50"/>
          <p:cNvSpPr/>
          <p:nvPr/>
        </p:nvSpPr>
        <p:spPr>
          <a:xfrm>
            <a:off x="502920" y="4745736"/>
            <a:ext cx="11185855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D6CFB8"/>
            </a:solidFill>
            <a:prstDash val="solid"/>
          </a:ln>
        </p:spPr>
      </p:sp>
      <p:sp>
        <p:nvSpPr>
          <p:cNvPr id="59" name="Shape 51"/>
          <p:cNvSpPr/>
          <p:nvPr/>
        </p:nvSpPr>
        <p:spPr>
          <a:xfrm>
            <a:off x="502920" y="4745736"/>
            <a:ext cx="2377440" cy="329184"/>
          </a:xfrm>
          <a:prstGeom prst="rect">
            <a:avLst/>
          </a:prstGeom>
          <a:solidFill>
            <a:srgbClr val="0F4C3A"/>
          </a:solidFill>
          <a:ln w="12700">
            <a:solidFill>
              <a:srgbClr val="0F4C3A"/>
            </a:solidFill>
            <a:prstDash val="solid"/>
          </a:ln>
        </p:spPr>
      </p:sp>
      <p:sp>
        <p:nvSpPr>
          <p:cNvPr id="60" name="Text 52"/>
          <p:cNvSpPr/>
          <p:nvPr/>
        </p:nvSpPr>
        <p:spPr>
          <a:xfrm>
            <a:off x="685800" y="4745736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 control</a:t>
            </a:r>
            <a:endParaRPr lang="en-US" sz="1150" dirty="0"/>
          </a:p>
        </p:txBody>
      </p:sp>
      <p:sp>
        <p:nvSpPr>
          <p:cNvPr id="61" name="Text 53"/>
          <p:cNvSpPr/>
          <p:nvPr/>
        </p:nvSpPr>
        <p:spPr>
          <a:xfrm>
            <a:off x="3108960" y="4745736"/>
            <a:ext cx="848837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Posting and reversing both validate fiscal-period open status</a:t>
            </a:r>
            <a:endParaRPr lang="en-US" sz="1100" dirty="0"/>
          </a:p>
        </p:txBody>
      </p:sp>
      <p:sp>
        <p:nvSpPr>
          <p:cNvPr id="62" name="Shape 54"/>
          <p:cNvSpPr/>
          <p:nvPr/>
        </p:nvSpPr>
        <p:spPr>
          <a:xfrm>
            <a:off x="502920" y="5129784"/>
            <a:ext cx="11185855" cy="329184"/>
          </a:xfrm>
          <a:prstGeom prst="rect">
            <a:avLst/>
          </a:prstGeom>
          <a:solidFill>
            <a:srgbClr val="EFEAD9"/>
          </a:solidFill>
          <a:ln w="6350">
            <a:solidFill>
              <a:srgbClr val="D6CFB8"/>
            </a:solidFill>
            <a:prstDash val="solid"/>
          </a:ln>
        </p:spPr>
      </p:sp>
      <p:sp>
        <p:nvSpPr>
          <p:cNvPr id="63" name="Shape 55"/>
          <p:cNvSpPr/>
          <p:nvPr/>
        </p:nvSpPr>
        <p:spPr>
          <a:xfrm>
            <a:off x="502920" y="5129784"/>
            <a:ext cx="2377440" cy="329184"/>
          </a:xfrm>
          <a:prstGeom prst="rect">
            <a:avLst/>
          </a:prstGeom>
          <a:solidFill>
            <a:srgbClr val="0F4C3A"/>
          </a:solidFill>
          <a:ln w="12700">
            <a:solidFill>
              <a:srgbClr val="0F4C3A"/>
            </a:solidFill>
            <a:prstDash val="solid"/>
          </a:ln>
        </p:spPr>
      </p:sp>
      <p:sp>
        <p:nvSpPr>
          <p:cNvPr id="64" name="Text 56"/>
          <p:cNvSpPr/>
          <p:nvPr/>
        </p:nvSpPr>
        <p:spPr>
          <a:xfrm>
            <a:off x="685800" y="5129784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Posting integrity</a:t>
            </a:r>
            <a:endParaRPr lang="en-US" sz="1150" dirty="0"/>
          </a:p>
        </p:txBody>
      </p:sp>
      <p:sp>
        <p:nvSpPr>
          <p:cNvPr id="65" name="Text 57"/>
          <p:cNvSpPr/>
          <p:nvPr/>
        </p:nvSpPr>
        <p:spPr>
          <a:xfrm>
            <a:off x="3108960" y="5129784"/>
            <a:ext cx="848837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(source_module, source_document_id) — duplicate posting impossible</a:t>
            </a:r>
            <a:endParaRPr lang="en-US" sz="1100" dirty="0"/>
          </a:p>
        </p:txBody>
      </p:sp>
      <p:sp>
        <p:nvSpPr>
          <p:cNvPr id="66" name="Shape 58"/>
          <p:cNvSpPr/>
          <p:nvPr/>
        </p:nvSpPr>
        <p:spPr>
          <a:xfrm>
            <a:off x="502920" y="5513832"/>
            <a:ext cx="11185855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D6CFB8"/>
            </a:solidFill>
            <a:prstDash val="solid"/>
          </a:ln>
        </p:spPr>
      </p:sp>
      <p:sp>
        <p:nvSpPr>
          <p:cNvPr id="67" name="Shape 59"/>
          <p:cNvSpPr/>
          <p:nvPr/>
        </p:nvSpPr>
        <p:spPr>
          <a:xfrm>
            <a:off x="502920" y="5513832"/>
            <a:ext cx="2377440" cy="329184"/>
          </a:xfrm>
          <a:prstGeom prst="rect">
            <a:avLst/>
          </a:prstGeom>
          <a:solidFill>
            <a:srgbClr val="0F4C3A"/>
          </a:solidFill>
          <a:ln w="12700">
            <a:solidFill>
              <a:srgbClr val="0F4C3A"/>
            </a:solidFill>
            <a:prstDash val="solid"/>
          </a:ln>
        </p:spPr>
      </p:sp>
      <p:sp>
        <p:nvSpPr>
          <p:cNvPr id="68" name="Text 60"/>
          <p:cNvSpPr/>
          <p:nvPr/>
        </p:nvSpPr>
        <p:spPr>
          <a:xfrm>
            <a:off x="685800" y="5513832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Row-level locking</a:t>
            </a:r>
            <a:endParaRPr lang="en-US" sz="1150" dirty="0"/>
          </a:p>
        </p:txBody>
      </p:sp>
      <p:sp>
        <p:nvSpPr>
          <p:cNvPr id="69" name="Text 61"/>
          <p:cNvSpPr/>
          <p:nvPr/>
        </p:nvSpPr>
        <p:spPr>
          <a:xfrm>
            <a:off x="3108960" y="5513832"/>
            <a:ext cx="848837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select_for_update on warrants, IPCs, mobilisation, bulk approvals</a:t>
            </a:r>
            <a:endParaRPr lang="en-US" sz="1100" dirty="0"/>
          </a:p>
        </p:txBody>
      </p:sp>
      <p:sp>
        <p:nvSpPr>
          <p:cNvPr id="70" name="Shape 62"/>
          <p:cNvSpPr/>
          <p:nvPr/>
        </p:nvSpPr>
        <p:spPr>
          <a:xfrm>
            <a:off x="502920" y="6473952"/>
            <a:ext cx="11185855" cy="0"/>
          </a:xfrm>
          <a:prstGeom prst="line">
            <a:avLst/>
          </a:prstGeom>
          <a:noFill/>
          <a:ln w="9525">
            <a:solidFill>
              <a:srgbClr val="D6CFB8"/>
            </a:solidFill>
            <a:prstDash val="solid"/>
          </a:ln>
        </p:spPr>
      </p:sp>
      <p:sp>
        <p:nvSpPr>
          <p:cNvPr id="71" name="Text 63"/>
          <p:cNvSpPr/>
          <p:nvPr/>
        </p:nvSpPr>
        <p:spPr>
          <a:xfrm>
            <a:off x="502920" y="652881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Dplux Technologies   ·   Quot PSA Briefing   ·   Presented by Jacob Osadiaye</a:t>
            </a:r>
            <a:endParaRPr lang="en-US" sz="900" dirty="0"/>
          </a:p>
        </p:txBody>
      </p:sp>
      <p:sp>
        <p:nvSpPr>
          <p:cNvPr id="72" name="Text 64"/>
          <p:cNvSpPr/>
          <p:nvPr/>
        </p:nvSpPr>
        <p:spPr>
          <a:xfrm>
            <a:off x="11323015" y="65288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F4C3A"/>
          </a:solidFill>
          <a:ln w="12700">
            <a:solidFill>
              <a:srgbClr val="0F4C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488375" y="36576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kern="0" spc="1200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CONTRACTS &amp; IPCs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02920" y="868680"/>
            <a:ext cx="1118585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4C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Works contracts, IPCs, retention and closure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02920" y="1874520"/>
            <a:ext cx="521208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CFB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1874520"/>
            <a:ext cx="73152" cy="4206240"/>
          </a:xfrm>
          <a:prstGeom prst="rect">
            <a:avLst/>
          </a:prstGeom>
          <a:solidFill>
            <a:srgbClr val="D4A574"/>
          </a:solidFill>
          <a:ln w="12700">
            <a:solidFill>
              <a:srgbClr val="D4A57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2057400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800" dirty="0">
                <a:solidFill>
                  <a:srgbClr val="A880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lifecycle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77240" y="2560320"/>
            <a:ext cx="274320" cy="274320"/>
          </a:xfrm>
          <a:prstGeom prst="ellipse">
            <a:avLst/>
          </a:prstGeom>
          <a:solidFill>
            <a:srgbClr val="0F4C3A"/>
          </a:solidFill>
          <a:ln w="12700">
            <a:solidFill>
              <a:srgbClr val="0F4C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25603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4A57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143000" y="25146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4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2697480" y="251460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Parties, ceiling, BoQ, defects-liability period, attached documents.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77240" y="3063240"/>
            <a:ext cx="274320" cy="274320"/>
          </a:xfrm>
          <a:prstGeom prst="ellipse">
            <a:avLst/>
          </a:prstGeom>
          <a:solidFill>
            <a:srgbClr val="0F4C3A"/>
          </a:solidFill>
          <a:ln w="12700">
            <a:solidFill>
              <a:srgbClr val="0F4C3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3063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4A57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143000" y="30175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4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Mobilisation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2697480" y="301752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 paid; recovery schedule tracked across subsequent IPCs.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77240" y="3566160"/>
            <a:ext cx="274320" cy="274320"/>
          </a:xfrm>
          <a:prstGeom prst="ellipse">
            <a:avLst/>
          </a:prstGeom>
          <a:solidFill>
            <a:srgbClr val="0F4C3A"/>
          </a:solidFill>
          <a:ln w="12700">
            <a:solidFill>
              <a:srgbClr val="0F4C3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7240" y="35661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4A57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143000" y="35204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4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Measurement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2697480" y="352044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Measurement books locked once cited — no retroactive edits.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77240" y="4069080"/>
            <a:ext cx="274320" cy="274320"/>
          </a:xfrm>
          <a:prstGeom prst="ellipse">
            <a:avLst/>
          </a:prstGeom>
          <a:solidFill>
            <a:srgbClr val="0F4C3A"/>
          </a:solidFill>
          <a:ln w="12700">
            <a:solidFill>
              <a:srgbClr val="0F4C3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7240" y="40690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4A57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143000" y="40233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4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IPC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2697480" y="402336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Interim Payment Certificate raised with row-level locking against double vouchers.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777240" y="4572000"/>
            <a:ext cx="274320" cy="274320"/>
          </a:xfrm>
          <a:prstGeom prst="ellipse">
            <a:avLst/>
          </a:prstGeom>
          <a:solidFill>
            <a:srgbClr val="0F4C3A"/>
          </a:solidFill>
          <a:ln w="12700">
            <a:solidFill>
              <a:srgbClr val="0F4C3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77240" y="45720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4A57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143000" y="45262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4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2697480" y="452628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Auto-accrual per IPC; release on completion or DLP expiry.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777240" y="5074920"/>
            <a:ext cx="274320" cy="274320"/>
          </a:xfrm>
          <a:prstGeom prst="ellipse">
            <a:avLst/>
          </a:prstGeom>
          <a:solidFill>
            <a:srgbClr val="0F4C3A"/>
          </a:solidFill>
          <a:ln w="12700">
            <a:solidFill>
              <a:srgbClr val="0F4C3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77240" y="50749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4A57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143000" y="50292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4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Variation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2697480" y="502920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Ceiling-increasing orders re-check appropriation availability.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777240" y="5577840"/>
            <a:ext cx="274320" cy="274320"/>
          </a:xfrm>
          <a:prstGeom prst="ellipse">
            <a:avLst/>
          </a:prstGeom>
          <a:solidFill>
            <a:srgbClr val="0F4C3A"/>
          </a:solidFill>
          <a:ln w="12700">
            <a:solidFill>
              <a:srgbClr val="0F4C3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77240" y="55778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4A57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1143000" y="55321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4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Closure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2697480" y="553212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Two-person SoD; cascade settles outstanding IPCs and retention.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5989320" y="1874520"/>
            <a:ext cx="5699455" cy="4206240"/>
          </a:xfrm>
          <a:prstGeom prst="rect">
            <a:avLst/>
          </a:prstGeom>
          <a:solidFill>
            <a:srgbClr val="0F4C3A"/>
          </a:solidFill>
          <a:ln w="12700">
            <a:solidFill>
              <a:srgbClr val="0F4C3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217920" y="2057400"/>
            <a:ext cx="524225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0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prevents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6217920" y="2514600"/>
            <a:ext cx="5242255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Double-vouchering on the same IPC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Quantity edits after a measurement is billed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Variation orders that quietly breach the appropriation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 released before defects-liability expires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closure by the same officer who raised the IPC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Mobilisation advance forgotten and never recovered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502920" y="6473952"/>
            <a:ext cx="11185855" cy="0"/>
          </a:xfrm>
          <a:prstGeom prst="line">
            <a:avLst/>
          </a:prstGeom>
          <a:noFill/>
          <a:ln w="9525">
            <a:solidFill>
              <a:srgbClr val="D6CFB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02920" y="652881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Dplux Technologies   ·   Quot PSA Briefing   ·   Presented by Jacob Osadiaye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11323015" y="65288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F4C3A"/>
          </a:solidFill>
          <a:ln w="12700">
            <a:solidFill>
              <a:srgbClr val="0F4C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488375" y="36576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kern="0" spc="1200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02920" y="868680"/>
            <a:ext cx="1118585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4C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Nineteen statutory reports, ready on day one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02920" y="1874520"/>
            <a:ext cx="3637178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CFB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1874520"/>
            <a:ext cx="3637178" cy="594360"/>
          </a:xfrm>
          <a:prstGeom prst="rect">
            <a:avLst/>
          </a:prstGeom>
          <a:solidFill>
            <a:srgbClr val="0F4C3A"/>
          </a:solidFill>
          <a:ln w="12700">
            <a:solidFill>
              <a:srgbClr val="0F4C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1874520"/>
            <a:ext cx="327141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IPSAS Financial Statements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2651760"/>
            <a:ext cx="3179978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150" dirty="0">
                <a:solidFill>
                  <a:srgbClr val="1A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Statement of Financial Position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150" dirty="0">
                <a:solidFill>
                  <a:srgbClr val="1A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Statement of Financial Performance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150" dirty="0">
                <a:solidFill>
                  <a:srgbClr val="1A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Statement of Cash Flows (direct method)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150" dirty="0">
                <a:solidFill>
                  <a:srgbClr val="1A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Statement of Changes in Net Assets / Equity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150" dirty="0">
                <a:solidFill>
                  <a:srgbClr val="1A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Notes to the Financial Statements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277258" y="1874520"/>
            <a:ext cx="3637178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CFB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277258" y="1874520"/>
            <a:ext cx="3637178" cy="594360"/>
          </a:xfrm>
          <a:prstGeom prst="rect">
            <a:avLst/>
          </a:prstGeom>
          <a:solidFill>
            <a:srgbClr val="1B7A5A"/>
          </a:solidFill>
          <a:ln w="12700">
            <a:solidFill>
              <a:srgbClr val="1B7A5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60138" y="1874520"/>
            <a:ext cx="327141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Execution &amp; GFS 2014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05858" y="2651760"/>
            <a:ext cx="3179978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150" dirty="0">
                <a:solidFill>
                  <a:srgbClr val="1A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vs. Actual (GFS 2014)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150" dirty="0">
                <a:solidFill>
                  <a:srgbClr val="1A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Performance Report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150" dirty="0">
                <a:solidFill>
                  <a:srgbClr val="1A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Warrant Utilisation Report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150" dirty="0">
                <a:solidFill>
                  <a:srgbClr val="1A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Commitment Report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150" dirty="0">
                <a:solidFill>
                  <a:srgbClr val="1A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Report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150" dirty="0">
                <a:solidFill>
                  <a:srgbClr val="1A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Classification (COFOG)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150" dirty="0">
                <a:solidFill>
                  <a:srgbClr val="1A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Programme Performance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051597" y="1874520"/>
            <a:ext cx="3637178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CFB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051597" y="1874520"/>
            <a:ext cx="3637178" cy="594360"/>
          </a:xfrm>
          <a:prstGeom prst="rect">
            <a:avLst/>
          </a:prstGeom>
          <a:solidFill>
            <a:srgbClr val="A88051"/>
          </a:solidFill>
          <a:ln w="12700">
            <a:solidFill>
              <a:srgbClr val="A8805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34477" y="1874520"/>
            <a:ext cx="327141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Treasury, Fund &amp; Revenue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280197" y="2651760"/>
            <a:ext cx="3179978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150" dirty="0">
                <a:solidFill>
                  <a:srgbClr val="1A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TSA Cash Position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150" dirty="0">
                <a:solidFill>
                  <a:srgbClr val="1A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 Performance (CRF / Dev Fund / IGR)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150" dirty="0">
                <a:solidFill>
                  <a:srgbClr val="1A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Performance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150" dirty="0">
                <a:solidFill>
                  <a:srgbClr val="1A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 Distribution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150" dirty="0">
                <a:solidFill>
                  <a:srgbClr val="1A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XBRL &amp; Statutory XML exports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150" dirty="0">
                <a:solidFill>
                  <a:srgbClr val="1A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Trial Balance, P&amp;L, Balance Sheet, Cash Flow (managerial pack)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150" dirty="0">
                <a:solidFill>
                  <a:srgbClr val="1A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Snapshot &amp; cache layer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02920" y="6473952"/>
            <a:ext cx="11185855" cy="0"/>
          </a:xfrm>
          <a:prstGeom prst="line">
            <a:avLst/>
          </a:prstGeom>
          <a:noFill/>
          <a:ln w="9525">
            <a:solidFill>
              <a:srgbClr val="D6CFB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652881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Dplux Technologies   ·   Quot PSA Briefing   ·   Presented by Jacob Osadiaye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323015" y="65288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F4C3A"/>
          </a:solidFill>
          <a:ln w="12700">
            <a:solidFill>
              <a:srgbClr val="0F4C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488375" y="36576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kern="0" spc="1200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AUDIT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02920" y="868680"/>
            <a:ext cx="1118585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4C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Forensic-grade audit and Segregation of Duties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02920" y="1874520"/>
            <a:ext cx="5501488" cy="20802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CFB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1874520"/>
            <a:ext cx="5501488" cy="640080"/>
          </a:xfrm>
          <a:prstGeom prst="rect">
            <a:avLst/>
          </a:prstGeom>
          <a:solidFill>
            <a:srgbClr val="0F4C3A"/>
          </a:solidFill>
          <a:ln w="12700">
            <a:solidFill>
              <a:srgbClr val="0F4C3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" y="1965960"/>
            <a:ext cx="457200" cy="457200"/>
          </a:xfrm>
          <a:prstGeom prst="ellipse">
            <a:avLst/>
          </a:prstGeom>
          <a:solidFill>
            <a:srgbClr val="1B7A5A"/>
          </a:solidFill>
          <a:ln w="12700">
            <a:solidFill>
              <a:srgbClr val="1B7A5A"/>
            </a:solidFill>
            <a:prstDash val="solid"/>
          </a:ln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4390" y="2068830"/>
            <a:ext cx="251460" cy="25146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325880" y="1947672"/>
            <a:ext cx="44956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200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1325880" y="2167128"/>
            <a:ext cx="44956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Multi-factor &amp; cookie-based auth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731520" y="2697480"/>
            <a:ext cx="5044288" cy="11201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050" dirty="0">
                <a:solidFill>
                  <a:srgbClr val="1A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TOTP MFA with fails-closed enrollment evaluation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050" dirty="0">
                <a:solidFill>
                  <a:srgbClr val="1A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HttpOnly cookie sessions with configurable lifetime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050" dirty="0">
                <a:solidFill>
                  <a:srgbClr val="1A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Per-tenant role-based access control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050" dirty="0">
                <a:solidFill>
                  <a:srgbClr val="1A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Impersonation banner when superadmin acts as tenant user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6187288" y="1874520"/>
            <a:ext cx="5501488" cy="20802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CFB8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187288" y="1874520"/>
            <a:ext cx="5501488" cy="640080"/>
          </a:xfrm>
          <a:prstGeom prst="rect">
            <a:avLst/>
          </a:prstGeom>
          <a:solidFill>
            <a:srgbClr val="0F4C3A"/>
          </a:solidFill>
          <a:ln w="12700">
            <a:solidFill>
              <a:srgbClr val="0F4C3A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415888" y="1965960"/>
            <a:ext cx="457200" cy="457200"/>
          </a:xfrm>
          <a:prstGeom prst="ellipse">
            <a:avLst/>
          </a:prstGeom>
          <a:solidFill>
            <a:srgbClr val="1B7A5A"/>
          </a:solidFill>
          <a:ln w="12700">
            <a:solidFill>
              <a:srgbClr val="1B7A5A"/>
            </a:solidFill>
            <a:prstDash val="solid"/>
          </a:ln>
        </p:spPr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8758" y="2068830"/>
            <a:ext cx="251460" cy="25146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7010248" y="1947672"/>
            <a:ext cx="44956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200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SEGREGATION OF DUTIES</a:t>
            </a:r>
            <a:endParaRPr lang="en-US" sz="1000" dirty="0"/>
          </a:p>
        </p:txBody>
      </p:sp>
      <p:sp>
        <p:nvSpPr>
          <p:cNvPr id="19" name="Text 15"/>
          <p:cNvSpPr/>
          <p:nvPr/>
        </p:nvSpPr>
        <p:spPr>
          <a:xfrm>
            <a:off x="7010248" y="2167128"/>
            <a:ext cx="44956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Conflicts blocked centrally</a:t>
            </a:r>
            <a:endParaRPr lang="en-US" sz="1350" dirty="0"/>
          </a:p>
        </p:txBody>
      </p:sp>
      <p:sp>
        <p:nvSpPr>
          <p:cNvPr id="20" name="Text 16"/>
          <p:cNvSpPr/>
          <p:nvPr/>
        </p:nvSpPr>
        <p:spPr>
          <a:xfrm>
            <a:off x="6415888" y="2697480"/>
            <a:ext cx="5044288" cy="11201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050" dirty="0">
                <a:solidFill>
                  <a:srgbClr val="1A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Originator cannot approve the same document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050" dirty="0">
                <a:solidFill>
                  <a:srgbClr val="1A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Centralised SoD evaluator across all modules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050" dirty="0">
                <a:solidFill>
                  <a:srgbClr val="1A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SoDViolation maps to HTTP 403 globally — never silently allowed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050" dirty="0">
                <a:solidFill>
                  <a:srgbClr val="1A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are declarative and audit-loggable</a:t>
            </a:r>
            <a:endParaRPr lang="en-US" sz="1050" dirty="0"/>
          </a:p>
        </p:txBody>
      </p:sp>
      <p:sp>
        <p:nvSpPr>
          <p:cNvPr id="21" name="Shape 17"/>
          <p:cNvSpPr/>
          <p:nvPr/>
        </p:nvSpPr>
        <p:spPr>
          <a:xfrm>
            <a:off x="502920" y="4137660"/>
            <a:ext cx="5501488" cy="20802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CFB8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502920" y="4137660"/>
            <a:ext cx="5501488" cy="640080"/>
          </a:xfrm>
          <a:prstGeom prst="rect">
            <a:avLst/>
          </a:prstGeom>
          <a:solidFill>
            <a:srgbClr val="0F4C3A"/>
          </a:solidFill>
          <a:ln w="12700">
            <a:solidFill>
              <a:srgbClr val="0F4C3A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731520" y="4229100"/>
            <a:ext cx="457200" cy="457200"/>
          </a:xfrm>
          <a:prstGeom prst="ellipse">
            <a:avLst/>
          </a:prstGeom>
          <a:solidFill>
            <a:srgbClr val="1B7A5A"/>
          </a:solidFill>
          <a:ln w="12700">
            <a:solidFill>
              <a:srgbClr val="1B7A5A"/>
            </a:solidFill>
            <a:prstDash val="solid"/>
          </a:ln>
        </p:spPr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4390" y="4331970"/>
            <a:ext cx="251460" cy="251460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1325880" y="4210812"/>
            <a:ext cx="44956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200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INTEGRITY</a:t>
            </a:r>
            <a:endParaRPr lang="en-US" sz="1000" dirty="0"/>
          </a:p>
        </p:txBody>
      </p:sp>
      <p:sp>
        <p:nvSpPr>
          <p:cNvPr id="26" name="Text 21"/>
          <p:cNvSpPr/>
          <p:nvPr/>
        </p:nvSpPr>
        <p:spPr>
          <a:xfrm>
            <a:off x="1325880" y="4430268"/>
            <a:ext cx="44956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silent failures, no race conditions</a:t>
            </a:r>
            <a:endParaRPr lang="en-US" sz="1350" dirty="0"/>
          </a:p>
        </p:txBody>
      </p:sp>
      <p:sp>
        <p:nvSpPr>
          <p:cNvPr id="27" name="Text 22"/>
          <p:cNvSpPr/>
          <p:nvPr/>
        </p:nvSpPr>
        <p:spPr>
          <a:xfrm>
            <a:off x="731520" y="4960620"/>
            <a:ext cx="5044288" cy="11201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050" dirty="0">
                <a:solidFill>
                  <a:srgbClr val="1A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index on (source_module, source_document_id)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050" dirty="0">
                <a:solidFill>
                  <a:srgbClr val="1A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select_for_update on warrants, IPCs, mobilisation, bulk approvals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050" dirty="0">
                <a:solidFill>
                  <a:srgbClr val="1A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 gate on every post / reverse / unpost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050" dirty="0">
                <a:solidFill>
                  <a:srgbClr val="1A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Magic-byte file-type validation on document uploads</a:t>
            </a:r>
            <a:endParaRPr lang="en-US" sz="1050" dirty="0"/>
          </a:p>
        </p:txBody>
      </p:sp>
      <p:sp>
        <p:nvSpPr>
          <p:cNvPr id="28" name="Shape 23"/>
          <p:cNvSpPr/>
          <p:nvPr/>
        </p:nvSpPr>
        <p:spPr>
          <a:xfrm>
            <a:off x="6187288" y="4137660"/>
            <a:ext cx="5501488" cy="20802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CFB8"/>
            </a:solidFill>
            <a:prstDash val="solid"/>
          </a:ln>
        </p:spPr>
      </p:sp>
      <p:sp>
        <p:nvSpPr>
          <p:cNvPr id="29" name="Shape 24"/>
          <p:cNvSpPr/>
          <p:nvPr/>
        </p:nvSpPr>
        <p:spPr>
          <a:xfrm>
            <a:off x="6187288" y="4137660"/>
            <a:ext cx="5501488" cy="640080"/>
          </a:xfrm>
          <a:prstGeom prst="rect">
            <a:avLst/>
          </a:prstGeom>
          <a:solidFill>
            <a:srgbClr val="0F4C3A"/>
          </a:solidFill>
          <a:ln w="12700">
            <a:solidFill>
              <a:srgbClr val="0F4C3A"/>
            </a:solidFill>
            <a:prstDash val="solid"/>
          </a:ln>
        </p:spPr>
      </p:sp>
      <p:sp>
        <p:nvSpPr>
          <p:cNvPr id="30" name="Shape 25"/>
          <p:cNvSpPr/>
          <p:nvPr/>
        </p:nvSpPr>
        <p:spPr>
          <a:xfrm>
            <a:off x="6415888" y="4229100"/>
            <a:ext cx="457200" cy="457200"/>
          </a:xfrm>
          <a:prstGeom prst="ellipse">
            <a:avLst/>
          </a:prstGeom>
          <a:solidFill>
            <a:srgbClr val="1B7A5A"/>
          </a:solidFill>
          <a:ln w="12700">
            <a:solidFill>
              <a:srgbClr val="1B7A5A"/>
            </a:solidFill>
            <a:prstDash val="solid"/>
          </a:ln>
        </p:spPr>
      </p:sp>
      <p:pic>
        <p:nvPicPr>
          <p:cNvPr id="3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18758" y="4331970"/>
            <a:ext cx="251460" cy="251460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7010248" y="4210812"/>
            <a:ext cx="44956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200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</a:t>
            </a:r>
            <a:endParaRPr lang="en-US" sz="1000" dirty="0"/>
          </a:p>
        </p:txBody>
      </p:sp>
      <p:sp>
        <p:nvSpPr>
          <p:cNvPr id="33" name="Text 27"/>
          <p:cNvSpPr/>
          <p:nvPr/>
        </p:nvSpPr>
        <p:spPr>
          <a:xfrm>
            <a:off x="7010248" y="4430268"/>
            <a:ext cx="44956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change is attributable</a:t>
            </a:r>
            <a:endParaRPr lang="en-US" sz="1350" dirty="0"/>
          </a:p>
        </p:txBody>
      </p:sp>
      <p:sp>
        <p:nvSpPr>
          <p:cNvPr id="34" name="Text 28"/>
          <p:cNvSpPr/>
          <p:nvPr/>
        </p:nvSpPr>
        <p:spPr>
          <a:xfrm>
            <a:off x="6415888" y="4960620"/>
            <a:ext cx="5044288" cy="11201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050" dirty="0">
                <a:solidFill>
                  <a:srgbClr val="1A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audit-trail service writes immutable records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050" dirty="0">
                <a:solidFill>
                  <a:srgbClr val="1A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Override Audit page for manual edits and account overrides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050" dirty="0">
                <a:solidFill>
                  <a:srgbClr val="1A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 page surfaces failures and uncleared items live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050" dirty="0">
                <a:solidFill>
                  <a:srgbClr val="1A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JSON logging for SIEM ingestion</a:t>
            </a:r>
            <a:endParaRPr lang="en-US" sz="1050" dirty="0"/>
          </a:p>
        </p:txBody>
      </p:sp>
      <p:sp>
        <p:nvSpPr>
          <p:cNvPr id="35" name="Shape 29"/>
          <p:cNvSpPr/>
          <p:nvPr/>
        </p:nvSpPr>
        <p:spPr>
          <a:xfrm>
            <a:off x="502920" y="6473952"/>
            <a:ext cx="11185855" cy="0"/>
          </a:xfrm>
          <a:prstGeom prst="line">
            <a:avLst/>
          </a:prstGeom>
          <a:noFill/>
          <a:ln w="9525">
            <a:solidFill>
              <a:srgbClr val="D6CFB8"/>
            </a:solidFill>
            <a:prstDash val="solid"/>
          </a:ln>
        </p:spPr>
      </p:sp>
      <p:sp>
        <p:nvSpPr>
          <p:cNvPr id="36" name="Text 30"/>
          <p:cNvSpPr/>
          <p:nvPr/>
        </p:nvSpPr>
        <p:spPr>
          <a:xfrm>
            <a:off x="502920" y="652881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Dplux Technologies   ·   Quot PSA Briefing   ·   Presented by Jacob Osadiaye</a:t>
            </a:r>
            <a:endParaRPr lang="en-US" sz="900" dirty="0"/>
          </a:p>
        </p:txBody>
      </p:sp>
      <p:sp>
        <p:nvSpPr>
          <p:cNvPr id="37" name="Text 31"/>
          <p:cNvSpPr/>
          <p:nvPr/>
        </p:nvSpPr>
        <p:spPr>
          <a:xfrm>
            <a:off x="11323015" y="65288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F4C3A"/>
          </a:solidFill>
          <a:ln w="12700">
            <a:solidFill>
              <a:srgbClr val="0F4C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488375" y="36576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kern="0" spc="1200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MULTI-TENANCY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02920" y="868680"/>
            <a:ext cx="1118585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4C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platform, every MDA — with absolute data isolation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02920" y="1874520"/>
            <a:ext cx="1118585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State MDA is provisioned as a tenant with its own isolated PostgreSQL schema. The Office of the Accountant General supervises across MDAs through the superadmin console while each MDA only ever sees its own data.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02920" y="3017520"/>
            <a:ext cx="3606698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CFB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2920" y="3017520"/>
            <a:ext cx="3606698" cy="1280160"/>
          </a:xfrm>
          <a:prstGeom prst="rect">
            <a:avLst/>
          </a:prstGeom>
          <a:solidFill>
            <a:srgbClr val="0F4C3A"/>
          </a:solidFill>
          <a:ln w="12700">
            <a:solidFill>
              <a:srgbClr val="0F4C3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917649" y="3291840"/>
            <a:ext cx="777240" cy="777240"/>
          </a:xfrm>
          <a:prstGeom prst="ellipse">
            <a:avLst/>
          </a:prstGeom>
          <a:solidFill>
            <a:srgbClr val="1B7A5A"/>
          </a:solidFill>
          <a:ln w="12700">
            <a:solidFill>
              <a:srgbClr val="1B7A5A"/>
            </a:solidFill>
            <a:prstDash val="solid"/>
          </a:ln>
        </p:spPr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2528" y="3466719"/>
            <a:ext cx="427482" cy="427482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685800" y="4434840"/>
            <a:ext cx="32409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4C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Schema isolation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685800" y="4892040"/>
            <a:ext cx="324093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 enforces the boundary, not the app. A bug in module code cannot leak data from one MDA into another.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4292498" y="3017520"/>
            <a:ext cx="3606698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CFB8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292498" y="3017520"/>
            <a:ext cx="3606698" cy="1280160"/>
          </a:xfrm>
          <a:prstGeom prst="rect">
            <a:avLst/>
          </a:prstGeom>
          <a:solidFill>
            <a:srgbClr val="0F4C3A"/>
          </a:solidFill>
          <a:ln w="12700">
            <a:solidFill>
              <a:srgbClr val="0F4C3A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5707228" y="3291840"/>
            <a:ext cx="777240" cy="777240"/>
          </a:xfrm>
          <a:prstGeom prst="ellipse">
            <a:avLst/>
          </a:prstGeom>
          <a:solidFill>
            <a:srgbClr val="1B7A5A"/>
          </a:solidFill>
          <a:ln w="12700">
            <a:solidFill>
              <a:srgbClr val="1B7A5A"/>
            </a:solidFill>
            <a:prstDash val="solid"/>
          </a:ln>
        </p:spPr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82107" y="3466719"/>
            <a:ext cx="427482" cy="427482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4475378" y="4434840"/>
            <a:ext cx="32409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4C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Per-MDA provisioning</a:t>
            </a:r>
            <a:endParaRPr lang="en-US" sz="1800" dirty="0"/>
          </a:p>
        </p:txBody>
      </p:sp>
      <p:sp>
        <p:nvSpPr>
          <p:cNvPr id="19" name="Text 15"/>
          <p:cNvSpPr/>
          <p:nvPr/>
        </p:nvSpPr>
        <p:spPr>
          <a:xfrm>
            <a:off x="4475378" y="4892040"/>
            <a:ext cx="324093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 a new MDA in 30 minutes. Defaults — currencies, NCoA segments, approval templates — seeded from JSON.</a:t>
            </a:r>
            <a:endParaRPr lang="en-US" sz="1150" dirty="0"/>
          </a:p>
        </p:txBody>
      </p:sp>
      <p:sp>
        <p:nvSpPr>
          <p:cNvPr id="20" name="Shape 16"/>
          <p:cNvSpPr/>
          <p:nvPr/>
        </p:nvSpPr>
        <p:spPr>
          <a:xfrm>
            <a:off x="8082077" y="3017520"/>
            <a:ext cx="3606698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CFB8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8082077" y="3017520"/>
            <a:ext cx="3606698" cy="1280160"/>
          </a:xfrm>
          <a:prstGeom prst="rect">
            <a:avLst/>
          </a:prstGeom>
          <a:solidFill>
            <a:srgbClr val="0F4C3A"/>
          </a:solidFill>
          <a:ln w="12700">
            <a:solidFill>
              <a:srgbClr val="0F4C3A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9496806" y="3291840"/>
            <a:ext cx="777240" cy="777240"/>
          </a:xfrm>
          <a:prstGeom prst="ellipse">
            <a:avLst/>
          </a:prstGeom>
          <a:solidFill>
            <a:srgbClr val="1B7A5A"/>
          </a:solidFill>
          <a:ln w="12700">
            <a:solidFill>
              <a:srgbClr val="1B7A5A"/>
            </a:solidFill>
            <a:prstDash val="solid"/>
          </a:ln>
        </p:spPr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71685" y="3466719"/>
            <a:ext cx="427482" cy="427482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8264957" y="4434840"/>
            <a:ext cx="32409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4C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Cross-MDA visibility for OAG</a:t>
            </a:r>
            <a:endParaRPr lang="en-US" sz="1800" dirty="0"/>
          </a:p>
        </p:txBody>
      </p:sp>
      <p:sp>
        <p:nvSpPr>
          <p:cNvPr id="25" name="Text 20"/>
          <p:cNvSpPr/>
          <p:nvPr/>
        </p:nvSpPr>
        <p:spPr>
          <a:xfrm>
            <a:off x="8264957" y="4892040"/>
            <a:ext cx="324093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superadmin console for the Accountant General to monitor, impersonate, audit, and report across every MDA.</a:t>
            </a:r>
            <a:endParaRPr lang="en-US" sz="1150" dirty="0"/>
          </a:p>
        </p:txBody>
      </p:sp>
      <p:sp>
        <p:nvSpPr>
          <p:cNvPr id="26" name="Shape 21"/>
          <p:cNvSpPr/>
          <p:nvPr/>
        </p:nvSpPr>
        <p:spPr>
          <a:xfrm>
            <a:off x="502920" y="6473952"/>
            <a:ext cx="11185855" cy="0"/>
          </a:xfrm>
          <a:prstGeom prst="line">
            <a:avLst/>
          </a:prstGeom>
          <a:noFill/>
          <a:ln w="9525">
            <a:solidFill>
              <a:srgbClr val="D6CFB8"/>
            </a:solidFill>
            <a:prstDash val="solid"/>
          </a:ln>
        </p:spPr>
      </p:sp>
      <p:sp>
        <p:nvSpPr>
          <p:cNvPr id="27" name="Text 22"/>
          <p:cNvSpPr/>
          <p:nvPr/>
        </p:nvSpPr>
        <p:spPr>
          <a:xfrm>
            <a:off x="502920" y="652881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Dplux Technologies   ·   Quot PSA Briefing   ·   Presented by Jacob Osadiaye</a:t>
            </a:r>
            <a:endParaRPr lang="en-US" sz="900" dirty="0"/>
          </a:p>
        </p:txBody>
      </p:sp>
      <p:sp>
        <p:nvSpPr>
          <p:cNvPr id="28" name="Text 23"/>
          <p:cNvSpPr/>
          <p:nvPr/>
        </p:nvSpPr>
        <p:spPr>
          <a:xfrm>
            <a:off x="11323015" y="65288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F4C3A"/>
          </a:solidFill>
          <a:ln w="12700">
            <a:solidFill>
              <a:srgbClr val="0F4C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488375" y="36576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kern="0" spc="1200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02920" y="868680"/>
            <a:ext cx="1118585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4C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phased, risk-managed rollout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02920" y="1874520"/>
            <a:ext cx="1828800" cy="585216"/>
          </a:xfrm>
          <a:prstGeom prst="rect">
            <a:avLst/>
          </a:prstGeom>
          <a:solidFill>
            <a:srgbClr val="D4A574"/>
          </a:solidFill>
          <a:ln w="12700">
            <a:solidFill>
              <a:srgbClr val="D4A57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874520"/>
            <a:ext cx="16916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400" dirty="0">
                <a:solidFill>
                  <a:srgbClr val="0F4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1–2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331720" y="1874520"/>
            <a:ext cx="9357055" cy="585216"/>
          </a:xfrm>
          <a:prstGeom prst="rect">
            <a:avLst/>
          </a:prstGeom>
          <a:solidFill>
            <a:srgbClr val="FFFFFF"/>
          </a:solidFill>
          <a:ln w="6350">
            <a:solidFill>
              <a:srgbClr val="D6CFB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14600" y="1929384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4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 &amp; Fit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715000" y="1929384"/>
            <a:ext cx="583661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On-site at the OAG. Walk through Delta State chart of accounts, fiscal calendar, current IFMIS, MDA inventory, TSA hierarchy, and reporting pack.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02920" y="2532888"/>
            <a:ext cx="1828800" cy="585216"/>
          </a:xfrm>
          <a:prstGeom prst="rect">
            <a:avLst/>
          </a:prstGeom>
          <a:solidFill>
            <a:srgbClr val="D4A574"/>
          </a:solidFill>
          <a:ln w="12700">
            <a:solidFill>
              <a:srgbClr val="D4A57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2532888"/>
            <a:ext cx="16916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400" dirty="0">
                <a:solidFill>
                  <a:srgbClr val="0F4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3–6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331720" y="2532888"/>
            <a:ext cx="9357055" cy="585216"/>
          </a:xfrm>
          <a:prstGeom prst="rect">
            <a:avLst/>
          </a:prstGeom>
          <a:solidFill>
            <a:srgbClr val="EFEAD9"/>
          </a:solidFill>
          <a:ln w="6350">
            <a:solidFill>
              <a:srgbClr val="D6CFB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14600" y="2587752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4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 &amp; Migration Design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715000" y="2587752"/>
            <a:ext cx="583661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NCoA mapping, fund taxonomy, approval templates per MDA, opening balances strategy, integration list with CBN / FIRS / Budget Office.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02920" y="3191256"/>
            <a:ext cx="1828800" cy="585216"/>
          </a:xfrm>
          <a:prstGeom prst="rect">
            <a:avLst/>
          </a:prstGeom>
          <a:solidFill>
            <a:srgbClr val="D4A574"/>
          </a:solidFill>
          <a:ln w="12700">
            <a:solidFill>
              <a:srgbClr val="D4A57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3191256"/>
            <a:ext cx="16916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400" dirty="0">
                <a:solidFill>
                  <a:srgbClr val="0F4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7–12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331720" y="3191256"/>
            <a:ext cx="9357055" cy="585216"/>
          </a:xfrm>
          <a:prstGeom prst="rect">
            <a:avLst/>
          </a:prstGeom>
          <a:solidFill>
            <a:srgbClr val="FFFFFF"/>
          </a:solidFill>
          <a:ln w="6350">
            <a:solidFill>
              <a:srgbClr val="D6CFB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514600" y="32461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4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— Office of the Accountant General + 3 MDAs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5715000" y="3246120"/>
            <a:ext cx="583661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 up production. Run treasury, AP, AR, GL, and TSA in parallel with the incumbent system. Daily reconciliation and acceptance testing.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02920" y="3849624"/>
            <a:ext cx="1828800" cy="585216"/>
          </a:xfrm>
          <a:prstGeom prst="rect">
            <a:avLst/>
          </a:prstGeom>
          <a:solidFill>
            <a:srgbClr val="D4A574"/>
          </a:solidFill>
          <a:ln w="12700">
            <a:solidFill>
              <a:srgbClr val="D4A57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" y="3849624"/>
            <a:ext cx="16916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400" dirty="0">
                <a:solidFill>
                  <a:srgbClr val="0F4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13–18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2331720" y="3849624"/>
            <a:ext cx="9357055" cy="585216"/>
          </a:xfrm>
          <a:prstGeom prst="rect">
            <a:avLst/>
          </a:prstGeom>
          <a:solidFill>
            <a:srgbClr val="EFEAD9"/>
          </a:solidFill>
          <a:ln w="6350">
            <a:solidFill>
              <a:srgbClr val="D6CFB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514600" y="3904488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4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Phased MDA Roll-out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5715000" y="3904488"/>
            <a:ext cx="583661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 remaining MDAs in waves of five. Each wave gets a fortnight of close support before the next wave begins.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502920" y="4507992"/>
            <a:ext cx="1828800" cy="585216"/>
          </a:xfrm>
          <a:prstGeom prst="rect">
            <a:avLst/>
          </a:prstGeom>
          <a:solidFill>
            <a:srgbClr val="D4A574"/>
          </a:solidFill>
          <a:ln w="12700">
            <a:solidFill>
              <a:srgbClr val="D4A57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0080" y="4507992"/>
            <a:ext cx="16916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400" dirty="0">
                <a:solidFill>
                  <a:srgbClr val="0F4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19–24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331720" y="4507992"/>
            <a:ext cx="9357055" cy="585216"/>
          </a:xfrm>
          <a:prstGeom prst="rect">
            <a:avLst/>
          </a:prstGeom>
          <a:solidFill>
            <a:srgbClr val="FFFFFF"/>
          </a:solidFill>
          <a:ln w="6350">
            <a:solidFill>
              <a:srgbClr val="D6CFB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514600" y="4562856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4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Statutory Reporting Cut-over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5715000" y="4562856"/>
            <a:ext cx="583661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IPSAS / GFS / OAGF return generated from Quot PSA. Auditor-General walkthrough. Disaster-recovery drill.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502920" y="5166360"/>
            <a:ext cx="1828800" cy="585216"/>
          </a:xfrm>
          <a:prstGeom prst="rect">
            <a:avLst/>
          </a:prstGeom>
          <a:solidFill>
            <a:srgbClr val="D4A574"/>
          </a:solidFill>
          <a:ln w="12700">
            <a:solidFill>
              <a:srgbClr val="D4A57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0080" y="5166360"/>
            <a:ext cx="16916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400" dirty="0">
                <a:solidFill>
                  <a:srgbClr val="0F4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Ongoing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2331720" y="5166360"/>
            <a:ext cx="9357055" cy="585216"/>
          </a:xfrm>
          <a:prstGeom prst="rect">
            <a:avLst/>
          </a:prstGeom>
          <a:solidFill>
            <a:srgbClr val="EFEAD9"/>
          </a:solidFill>
          <a:ln w="6350">
            <a:solidFill>
              <a:srgbClr val="D6CFB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514600" y="5221224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4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Steady-state Support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5715000" y="5221224"/>
            <a:ext cx="583661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Quarterly DR drill, fiscal-year roll-over support, end-of-year close, and platform upgrades.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502920" y="6473952"/>
            <a:ext cx="11185855" cy="0"/>
          </a:xfrm>
          <a:prstGeom prst="line">
            <a:avLst/>
          </a:prstGeom>
          <a:noFill/>
          <a:ln w="9525">
            <a:solidFill>
              <a:srgbClr val="D6CFB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02920" y="652881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Dplux Technologies   ·   Quot PSA Briefing   ·   Presented by Jacob Osadiaye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1323015" y="65288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F4C3A"/>
          </a:solidFill>
          <a:ln w="12700">
            <a:solidFill>
              <a:srgbClr val="0F4C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488375" y="36576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kern="0" spc="1200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PROPOSAL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02920" y="868680"/>
            <a:ext cx="1118585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4C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pilot we propose for Delta State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02920" y="1874520"/>
            <a:ext cx="685800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CFB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2057400"/>
            <a:ext cx="6309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800" dirty="0">
                <a:solidFill>
                  <a:srgbClr val="A880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scope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77240" y="2514600"/>
            <a:ext cx="20116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F4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2834640" y="2514600"/>
            <a:ext cx="43434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 of the Accountant General · Ministry of Finance · two further MDAs of OAG's choosing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77240" y="3017520"/>
            <a:ext cx="20116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F4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 in scope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2834640" y="3017520"/>
            <a:ext cx="43434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 &amp; NCoA · TSA · AP &amp; AR · Bank reconciliation · Statutory reporting (IPSAS Cash Basis)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77240" y="3520440"/>
            <a:ext cx="20116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F4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running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2834640" y="3520440"/>
            <a:ext cx="43434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 PSA runs alongside the incumbent system for 8 weeks with daily reconciliation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77240" y="4023360"/>
            <a:ext cx="20116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F4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Cut-over criterion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2834640" y="4023360"/>
            <a:ext cx="43434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full month's OAGF return generated from Quot PSA with zero reconciling differences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77240" y="4526280"/>
            <a:ext cx="20116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F4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2834640" y="4526280"/>
            <a:ext cx="43434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OAG staff trained as system administrators · 30 MDA users trained as operators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77240" y="5029200"/>
            <a:ext cx="20116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F4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Hosting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2834640" y="5029200"/>
            <a:ext cx="43434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Delta State Government data centre, or Dplux-hosted private VPC — your choice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77240" y="5532120"/>
            <a:ext cx="20116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F4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2834640" y="5532120"/>
            <a:ext cx="43434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Fixed-fee pilot. No additional license cost until the cut-over criterion is independently signed off.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635240" y="1874520"/>
            <a:ext cx="4053535" cy="4206240"/>
          </a:xfrm>
          <a:prstGeom prst="rect">
            <a:avLst/>
          </a:prstGeom>
          <a:solidFill>
            <a:srgbClr val="0F4C3A"/>
          </a:solidFill>
          <a:ln w="12700">
            <a:solidFill>
              <a:srgbClr val="0F4C3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863840" y="2057400"/>
            <a:ext cx="359633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0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Delta State gets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863840" y="2468880"/>
            <a:ext cx="3596335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working production deployment in 12 weeks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OAGF returns generated by the system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trained internal team capable of running it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DR drill executed, not just documented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platform that any further MDA can be onboarded into in 30 minutes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502920" y="6473952"/>
            <a:ext cx="11185855" cy="0"/>
          </a:xfrm>
          <a:prstGeom prst="line">
            <a:avLst/>
          </a:prstGeom>
          <a:noFill/>
          <a:ln w="9525">
            <a:solidFill>
              <a:srgbClr val="D6CFB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" y="652881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Dplux Technologies   ·   Quot PSA Briefing   ·   Presented by Jacob Osadiaye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323015" y="65288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4C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4572000"/>
            <a:ext cx="4572000" cy="4572000"/>
          </a:xfrm>
          <a:prstGeom prst="ellipse">
            <a:avLst/>
          </a:prstGeom>
          <a:solidFill>
            <a:srgbClr val="1B7A5A"/>
          </a:solidFill>
          <a:ln w="12700">
            <a:solidFill>
              <a:srgbClr val="1B7A5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D4A574"/>
          </a:solidFill>
          <a:ln w="12700">
            <a:solidFill>
              <a:srgbClr val="D4A57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280160"/>
            <a:ext cx="10972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8400" dirty="0"/>
          </a:p>
        </p:txBody>
      </p:sp>
      <p:sp>
        <p:nvSpPr>
          <p:cNvPr id="5" name="Text 3"/>
          <p:cNvSpPr/>
          <p:nvPr/>
        </p:nvSpPr>
        <p:spPr>
          <a:xfrm>
            <a:off x="502920" y="274320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welcome your questions.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7116775" y="3749040"/>
            <a:ext cx="457200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116775" y="3749040"/>
            <a:ext cx="91440" cy="2560320"/>
          </a:xfrm>
          <a:prstGeom prst="rect">
            <a:avLst/>
          </a:prstGeom>
          <a:solidFill>
            <a:srgbClr val="D4A574"/>
          </a:solidFill>
          <a:ln w="12700">
            <a:solidFill>
              <a:srgbClr val="D4A57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91095" y="393192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800" dirty="0">
                <a:solidFill>
                  <a:srgbClr val="A880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391095" y="420624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4C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Jacob Osadiaye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7391095" y="466344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Dplux Technologies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391095" y="5074920"/>
            <a:ext cx="274320" cy="274320"/>
          </a:xfrm>
          <a:prstGeom prst="ellipse">
            <a:avLst/>
          </a:prstGeom>
          <a:solidFill>
            <a:srgbClr val="0F4C3A"/>
          </a:solidFill>
          <a:ln w="12700">
            <a:solidFill>
              <a:srgbClr val="0F4C3A"/>
            </a:solidFill>
            <a:prstDash val="solid"/>
          </a:ln>
        </p:spPr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2817" y="5136642"/>
            <a:ext cx="150876" cy="150876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7756855" y="5074920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osadiaye4real@gmail.com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7391095" y="5440680"/>
            <a:ext cx="274320" cy="274320"/>
          </a:xfrm>
          <a:prstGeom prst="ellipse">
            <a:avLst/>
          </a:prstGeom>
          <a:solidFill>
            <a:srgbClr val="0F4C3A"/>
          </a:solidFill>
          <a:ln w="12700">
            <a:solidFill>
              <a:srgbClr val="0F4C3A"/>
            </a:solidFill>
            <a:prstDash val="solid"/>
          </a:ln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52817" y="5502402"/>
            <a:ext cx="150876" cy="150876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7756855" y="5440680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 on request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502920" y="3931920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400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this briefing</a:t>
            </a:r>
            <a:endParaRPr lang="en-US" sz="1100" dirty="0"/>
          </a:p>
        </p:txBody>
      </p:sp>
      <p:sp>
        <p:nvSpPr>
          <p:cNvPr id="21" name="Text 16"/>
          <p:cNvSpPr/>
          <p:nvPr/>
        </p:nvSpPr>
        <p:spPr>
          <a:xfrm>
            <a:off x="502920" y="4251960"/>
            <a:ext cx="5943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7F4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Dplux Technologies for the Office of the Accountant General, Delta State Government Secretariat, Asaba.</a:t>
            </a:r>
            <a:endParaRPr lang="en-US" sz="1400" dirty="0"/>
          </a:p>
        </p:txBody>
      </p:sp>
      <p:sp>
        <p:nvSpPr>
          <p:cNvPr id="22" name="Text 17"/>
          <p:cNvSpPr/>
          <p:nvPr/>
        </p:nvSpPr>
        <p:spPr>
          <a:xfrm>
            <a:off x="502920" y="576072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live demo and a written proposal are available on request.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2232</Words>
  <Application>Microsoft Office PowerPoint</Application>
  <PresentationFormat>Widescreen</PresentationFormat>
  <Paragraphs>393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Dplux Technologies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Quot PSA — Briefing for the Office of the Accountant General, Delta State</dc:title>
  <dc:subject>PptxGenJS Presentation</dc:subject>
  <dc:creator>Dplux Technologies</dc:creator>
  <cp:lastModifiedBy>USER</cp:lastModifiedBy>
  <cp:revision>4</cp:revision>
  <dcterms:created xsi:type="dcterms:W3CDTF">2026-06-01T21:52:46Z</dcterms:created>
  <dcterms:modified xsi:type="dcterms:W3CDTF">2026-06-03T22:29:01Z</dcterms:modified>
</cp:coreProperties>
</file>