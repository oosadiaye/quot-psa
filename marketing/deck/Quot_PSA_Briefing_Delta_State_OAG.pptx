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-2286000"/>
            <a:ext cx="5486400" cy="5486400"/>
          </a:xfrm>
          <a:prstGeom prst="ellipse">
            <a:avLst/>
          </a:prstGeom>
          <a:solidFill>
            <a:srgbClr val="0F4C3A"/>
          </a:solidFill>
          <a:ln w="50800">
            <a:solidFill>
              <a:srgbClr val="D4A5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1005840"/>
            <a:ext cx="3017520" cy="301752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93408"/>
            <a:ext cx="4114800" cy="16459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 TECHNOLOGIES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 PSA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02920" y="3383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Sector Accounting Platform purpose-built for the IFMIS framework, IPSAS reporting, and the Treasury Single Account.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4846320"/>
            <a:ext cx="54864" cy="12801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Briefing 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4088" y="5102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Office of the Accountant General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04088" y="5532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State Government Secretariat, Asaba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" y="58704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Jacob Osadiaye  ·  Dplux Technologies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0" kern="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 ·  Briefing to the Office of the Accountant General, Delta State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25-minute walkthrough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 today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11096"/>
            <a:ext cx="384048" cy="384048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85623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Dplux Technologies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0939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 and what we have shipped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14016"/>
            <a:ext cx="384048" cy="384048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3591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problem in public-sector accounting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5968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off-the-shelf ERP cannot satisfy IFMIS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916936"/>
            <a:ext cx="384048" cy="384048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86207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— the platform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099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modules, and statutory alignment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419856"/>
            <a:ext cx="384048" cy="384048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3649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Single Account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6027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 hierarchy, sub-accounts, and reconciliation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922776"/>
            <a:ext cx="384048" cy="384048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8679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control &amp; commitment accounting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41056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Appropriation gating, warrants, virements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425696"/>
            <a:ext cx="384048" cy="384048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37083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— IPSAS, GFS 2014, OAGF returns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1560" y="46085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statutory reports out of the box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928616"/>
            <a:ext cx="384048" cy="384048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51560" y="48737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audit &amp; Segregation of Duties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51560" y="51114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Multi-tenancy, RBAC, SoD, MFA, full audit trail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5431536"/>
            <a:ext cx="384048" cy="384048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431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51560" y="537667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Delta State pilot &amp; next steps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51560" y="56144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timeline, and success criteria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991295" y="1737360"/>
            <a:ext cx="2697480" cy="429768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28455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at a glance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128455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min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9128455" y="2971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128455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min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9128455" y="41605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128455" y="4709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</a:t>
            </a:r>
            <a:endParaRPr lang="en-US" sz="3600" dirty="0"/>
          </a:p>
        </p:txBody>
      </p:sp>
      <p:sp>
        <p:nvSpPr>
          <p:cNvPr id="46" name="Text 44"/>
          <p:cNvSpPr/>
          <p:nvPr/>
        </p:nvSpPr>
        <p:spPr>
          <a:xfrm>
            <a:off x="9128455" y="5349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0" kern="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 ·  Briefing to the Office of the Accountant General, Delta State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for institutions that cannot afford to be wrong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Dplux Technologies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is a Nigerian software engineering firm that builds mission-critical platforms for finance, government, and regulated industries. We specialise in the kind of systems where a quiet failure is the worst kind of failure — treasuries, accounting back-offices, healthcare records, and procurement controls.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3520440"/>
            <a:ext cx="457200" cy="45720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362331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35204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Domain-first engineering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43000" y="3794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model the regulation before we model the database.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4389120"/>
            <a:ext cx="457200" cy="45720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" y="449199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4389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Audit-grade traceability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143000" y="4663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attributable. No silent failures.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5257800"/>
            <a:ext cx="457200" cy="45720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" y="536067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5257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Operator-ready delivery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143000" y="5532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Runbooks, DR drills, and training included.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842455" y="1874520"/>
            <a:ext cx="4846320" cy="416052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162495" y="2011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8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116775" y="2468880"/>
            <a:ext cx="2194560" cy="1691640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253935" y="2606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7+</a:t>
            </a:r>
            <a:endParaRPr lang="en-US" sz="3200" dirty="0"/>
          </a:p>
        </p:txBody>
      </p:sp>
      <p:sp>
        <p:nvSpPr>
          <p:cNvPr id="24" name="Text 19"/>
          <p:cNvSpPr/>
          <p:nvPr/>
        </p:nvSpPr>
        <p:spPr>
          <a:xfrm>
            <a:off x="7253935" y="3246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building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253935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mission-critical systems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402775" y="2468880"/>
            <a:ext cx="2194560" cy="1691640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539935" y="2606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3200" dirty="0"/>
          </a:p>
        </p:txBody>
      </p:sp>
      <p:sp>
        <p:nvSpPr>
          <p:cNvPr id="28" name="Text 23"/>
          <p:cNvSpPr/>
          <p:nvPr/>
        </p:nvSpPr>
        <p:spPr>
          <a:xfrm>
            <a:off x="9539935" y="3246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modules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9539935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in Quot PSA alone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7116775" y="4251960"/>
            <a:ext cx="2194560" cy="1691640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253935" y="4389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200" dirty="0"/>
          </a:p>
        </p:txBody>
      </p:sp>
      <p:sp>
        <p:nvSpPr>
          <p:cNvPr id="32" name="Text 27"/>
          <p:cNvSpPr/>
          <p:nvPr/>
        </p:nvSpPr>
        <p:spPr>
          <a:xfrm>
            <a:off x="7253935" y="5029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7253935" y="5303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9402775" y="4251960"/>
            <a:ext cx="2194560" cy="1691640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9539935" y="4389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IFMIS</a:t>
            </a:r>
            <a:endParaRPr lang="en-US" sz="3200" dirty="0"/>
          </a:p>
        </p:txBody>
      </p:sp>
      <p:sp>
        <p:nvSpPr>
          <p:cNvPr id="36" name="Text 31"/>
          <p:cNvSpPr/>
          <p:nvPr/>
        </p:nvSpPr>
        <p:spPr>
          <a:xfrm>
            <a:off x="9539935" y="5029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9539935" y="5303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designed for the framework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0" kern="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 ·  Briefing to the Office of the Accountant General, Delta State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systems serving regulated workloads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Selected platforms we have shipped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74520"/>
            <a:ext cx="73152" cy="19202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075688"/>
            <a:ext cx="411480" cy="41148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103" y="2168271"/>
            <a:ext cx="226314" cy="22631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203911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31520" y="25877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 PSA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1520" y="29535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multi-tenant IFMIS-aligned Public Sector Accounting platform with TSA, IPSAS reporting, commitment control, and 19 statutory reports. (The subject of today's briefing.)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70248" y="187452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70248" y="1874520"/>
            <a:ext cx="73152" cy="19202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98848" y="2075688"/>
            <a:ext cx="411480" cy="41148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431" y="2168271"/>
            <a:ext cx="226314" cy="22631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01768" y="203911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498848" y="25877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&amp; Revenue Cycle Suite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498848" y="29535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hospital information system covering EMR, laboratory, radiology, pharmacy, billing, claims, and revenue-cycle management with PHI-grade access controls.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037576" y="187452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037576" y="1874520"/>
            <a:ext cx="73152" cy="19202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266176" y="2075688"/>
            <a:ext cx="411480" cy="41148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759" y="2168271"/>
            <a:ext cx="226314" cy="22631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769096" y="203911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8266176" y="25877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Contracts &amp; Vendor Lifecycle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8266176" y="29535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onboarding, contract register, IPC processing, retention scheduling, and BPP-aligned procurement workflows — the core that powers Quot PSA contracts.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02920" y="3941064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02920" y="3941064"/>
            <a:ext cx="73152" cy="19202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31520" y="4142232"/>
            <a:ext cx="411480" cy="41148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103" y="4234815"/>
            <a:ext cx="226314" cy="22631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234440" y="410565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731520" y="46542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Dplux ERP &amp; HRM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731520" y="502005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multi-module ERP suite — finance, HR, payroll, inventory, sales, and approval workflow — deployed for mid-sized private-sector operators across West Africa.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4270248" y="3941064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270248" y="3941064"/>
            <a:ext cx="73152" cy="19202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4498848" y="4142232"/>
            <a:ext cx="411480" cy="41148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431" y="4234815"/>
            <a:ext cx="226314" cy="22631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001768" y="410565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50" dirty="0"/>
          </a:p>
        </p:txBody>
      </p:sp>
      <p:sp>
        <p:nvSpPr>
          <p:cNvPr id="40" name="Text 33"/>
          <p:cNvSpPr/>
          <p:nvPr/>
        </p:nvSpPr>
        <p:spPr>
          <a:xfrm>
            <a:off x="4498848" y="46542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Multi-tenant SaaS Infrastructure</a:t>
            </a:r>
            <a:endParaRPr lang="en-US" sz="1600" dirty="0"/>
          </a:p>
        </p:txBody>
      </p:sp>
      <p:sp>
        <p:nvSpPr>
          <p:cNvPr id="41" name="Text 34"/>
          <p:cNvSpPr/>
          <p:nvPr/>
        </p:nvSpPr>
        <p:spPr>
          <a:xfrm>
            <a:off x="4498848" y="502005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tenant-isolated SaaS substrate — schema-per-tenant Postgres, superadmin console, per-tenant module gating — that underpins every Dplux product line.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8037576" y="3941064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8037576" y="3941064"/>
            <a:ext cx="73152" cy="19202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8266176" y="4142232"/>
            <a:ext cx="411480" cy="41148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8759" y="4234815"/>
            <a:ext cx="226314" cy="226314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8769096" y="410565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Audit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8266176" y="46542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Segregation-of-Duties Engine</a:t>
            </a:r>
            <a:endParaRPr lang="en-US" sz="1600" dirty="0"/>
          </a:p>
        </p:txBody>
      </p:sp>
      <p:sp>
        <p:nvSpPr>
          <p:cNvPr id="48" name="Text 40"/>
          <p:cNvSpPr/>
          <p:nvPr/>
        </p:nvSpPr>
        <p:spPr>
          <a:xfrm>
            <a:off x="8266176" y="502005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centralised SoD evaluator that prevents conflicting actions across modules, with audit logging and policy-as-code rule authoring — embedded in Quot PSA.</a:t>
            </a:r>
            <a:endParaRPr lang="en-US" sz="1050" dirty="0"/>
          </a:p>
        </p:txBody>
      </p:sp>
      <p:sp>
        <p:nvSpPr>
          <p:cNvPr id="49" name="Shape 41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4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0" kern="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 ·  Briefing to the Office of the Accountant General, Delta State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657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0" kern="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 ·  Briefing to the Office of the Accountant General, Delta State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is public-sector. The software, mostly, is not.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treasuries actually need — and what most ERPs cannot provide.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02920" y="2377440"/>
            <a:ext cx="5410048" cy="3657600"/>
          </a:xfrm>
          <a:prstGeom prst="rect">
            <a:avLst/>
          </a:prstGeom>
          <a:solidFill>
            <a:srgbClr val="1B7A5A"/>
          </a:solidFill>
          <a:ln w="19050">
            <a:solidFill>
              <a:srgbClr val="D4A5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0604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Public Sector Accounting requires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154680"/>
            <a:ext cx="48614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Appropriation as legal ceiling on every expenditure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accounting at the PO, not at the invoice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accounting with restricted sources (CRF, IGR, Donor)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7-segment NCoA: Admin × Economic × Functional × Programme × Fund × Geo × Project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Single Account hierarchy with MDA sub-accounts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IPSAS-prescribed equity structure (Accumulated Fund, Revaluation Surplus)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submissions to OAGF, OAuGF, CBN, FIRS, Budget Office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2377440"/>
            <a:ext cx="5410048" cy="3657600"/>
          </a:xfrm>
          <a:prstGeom prst="rect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3048" y="260604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typical commercial ERP gives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53048" y="3154680"/>
            <a:ext cx="48614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□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loss accounting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□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Invoice-time commitment (already too late)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□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cash with no fund restriction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□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 to 5-segment commercial chart of accounts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□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accounts, but no TSA model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□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Earnings (not Accumulated Fund)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□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investor reports, not OAGF returns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Presented by Jacob Osadiaye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0" kern="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 ·  Briefing to the Office of the Accountant General, Delta State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ground-up for the public sector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Quot PSA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is a full-stack Public Sector Accounting platform. Every primitive — appropriation, warrant, commitment, fund, vote book, voucher, mandate, TSA sub-account — is modelled as a first-class object. The result is a system that enforces fiscal control at the point of commitment, not after the fact.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272788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017520"/>
            <a:ext cx="2727884" cy="7315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00400"/>
            <a:ext cx="2362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85800" y="3886200"/>
            <a:ext cx="23621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modules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22244" y="3017520"/>
            <a:ext cx="272788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22244" y="3017520"/>
            <a:ext cx="2727884" cy="7315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5124" y="3200400"/>
            <a:ext cx="2362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505124" y="3886200"/>
            <a:ext cx="23621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IPSAS / GFS reports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41568" y="3017520"/>
            <a:ext cx="272788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41568" y="3017520"/>
            <a:ext cx="2727884" cy="7315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4448" y="3200400"/>
            <a:ext cx="2362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7-seg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324448" y="3886200"/>
            <a:ext cx="23621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NCoA classification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60891" y="3017520"/>
            <a:ext cx="272788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0891" y="3017520"/>
            <a:ext cx="2727884" cy="7315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3771" y="3200400"/>
            <a:ext cx="2362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SoD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9143771" y="3886200"/>
            <a:ext cx="23621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Centrally enforced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4754880"/>
            <a:ext cx="2727884" cy="128016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919472"/>
            <a:ext cx="457200" cy="45720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5022342"/>
            <a:ext cx="251460" cy="2514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80160" y="4937760"/>
            <a:ext cx="18134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IFMIS-aligned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85800" y="548640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around the Federal IFMIS framework, not retrofitted.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322244" y="4754880"/>
            <a:ext cx="2727884" cy="128016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505124" y="4919472"/>
            <a:ext cx="457200" cy="45720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994" y="5022342"/>
            <a:ext cx="251460" cy="25146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4099484" y="4937760"/>
            <a:ext cx="18134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IPSAS-compliant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3505124" y="548640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Cash-basis and accrual reporting out of the box.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141568" y="4754880"/>
            <a:ext cx="2727884" cy="128016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324448" y="4919472"/>
            <a:ext cx="457200" cy="45720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318" y="5022342"/>
            <a:ext cx="251460" cy="25146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918808" y="4937760"/>
            <a:ext cx="18134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Audit-grade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6324448" y="548640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 on every posting and override.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8960891" y="4754880"/>
            <a:ext cx="2727884" cy="128016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9143771" y="4919472"/>
            <a:ext cx="457200" cy="45720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641" y="5022342"/>
            <a:ext cx="251460" cy="25146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9738131" y="4937760"/>
            <a:ext cx="18134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9143771" y="548640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Per-MDA schema isolation in a single deployment.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0" kern="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 ·  Briefing to the Office of the Accountant General, Delta State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integrated modules across four functional bands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every public-sector workflow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468880" cy="105156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745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APPROPRIATION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2011680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2011680"/>
            <a:ext cx="1642811" cy="5486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2103120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MTEF &amp; Sector Envelopes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97491" y="2011680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97491" y="2011680"/>
            <a:ext cx="1642811" cy="5486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7219" y="2103120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Appropriation Loading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86022" y="2011680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86022" y="2011680"/>
            <a:ext cx="1642811" cy="5486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5750" y="2103120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Warrants &amp; AIE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74553" y="2011680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74553" y="2011680"/>
            <a:ext cx="1642811" cy="5486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4281" y="2103120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Virements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863084" y="2011680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63084" y="2011680"/>
            <a:ext cx="1642811" cy="5486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72812" y="2103120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Check Rules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3035808"/>
            <a:ext cx="2468880" cy="1051560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035808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&amp; PROCUREMENT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08960" y="3172968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08960" y="3172968"/>
            <a:ext cx="1642811" cy="54864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18688" y="3264408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Registry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97491" y="3172968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97491" y="3172968"/>
            <a:ext cx="1642811" cy="54864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7219" y="3264408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86022" y="3172968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86022" y="3172968"/>
            <a:ext cx="1642811" cy="54864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95750" y="3264408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/ LPOs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174553" y="3172968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74553" y="3172968"/>
            <a:ext cx="1642811" cy="54864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84281" y="3264408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 &amp; Invoice Matching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863084" y="3172968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63084" y="3172968"/>
            <a:ext cx="1642811" cy="54864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72812" y="3264408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IPCs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4197096"/>
            <a:ext cx="2468880" cy="1051560"/>
          </a:xfrm>
          <a:prstGeom prst="rect">
            <a:avLst/>
          </a:prstGeom>
          <a:solidFill>
            <a:srgbClr val="A88051"/>
          </a:solidFill>
          <a:ln w="12700">
            <a:solidFill>
              <a:srgbClr val="A8805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4197096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TREASURY, GL &amp; TAX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108960" y="4334256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08960" y="4334256"/>
            <a:ext cx="1642811" cy="54864"/>
          </a:xfrm>
          <a:prstGeom prst="rect">
            <a:avLst/>
          </a:prstGeom>
          <a:solidFill>
            <a:srgbClr val="A88051"/>
          </a:solidFill>
          <a:ln w="12700">
            <a:solidFill>
              <a:srgbClr val="A8805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18688" y="4425696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 Ledger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797491" y="4334256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97491" y="4334256"/>
            <a:ext cx="1642811" cy="54864"/>
          </a:xfrm>
          <a:prstGeom prst="rect">
            <a:avLst/>
          </a:prstGeom>
          <a:solidFill>
            <a:srgbClr val="A88051"/>
          </a:solidFill>
          <a:ln w="12700">
            <a:solidFill>
              <a:srgbClr val="A8805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07219" y="4425696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&amp; Cash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486022" y="4334256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86022" y="4334256"/>
            <a:ext cx="1642811" cy="54864"/>
          </a:xfrm>
          <a:prstGeom prst="rect">
            <a:avLst/>
          </a:prstGeom>
          <a:solidFill>
            <a:srgbClr val="A88051"/>
          </a:solidFill>
          <a:ln w="12700">
            <a:solidFill>
              <a:srgbClr val="A8805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95750" y="4425696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Ledger &amp; NCoA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174553" y="4334256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74553" y="4334256"/>
            <a:ext cx="1642811" cy="54864"/>
          </a:xfrm>
          <a:prstGeom prst="rect">
            <a:avLst/>
          </a:prstGeom>
          <a:solidFill>
            <a:srgbClr val="A88051"/>
          </a:solidFill>
          <a:ln w="12700">
            <a:solidFill>
              <a:srgbClr val="A8805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84281" y="4425696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/ AR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9863084" y="4334256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863084" y="4334256"/>
            <a:ext cx="1642811" cy="54864"/>
          </a:xfrm>
          <a:prstGeom prst="rect">
            <a:avLst/>
          </a:prstGeom>
          <a:solidFill>
            <a:srgbClr val="A88051"/>
          </a:solidFill>
          <a:ln w="12700">
            <a:solidFill>
              <a:srgbClr val="A8805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972812" y="4425696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 · VAT · WHT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502920" y="5358384"/>
            <a:ext cx="2468880" cy="1051560"/>
          </a:xfrm>
          <a:prstGeom prst="rect">
            <a:avLst/>
          </a:prstGeom>
          <a:solidFill>
            <a:srgbClr val="1A2B26"/>
          </a:solidFill>
          <a:ln w="12700">
            <a:solidFill>
              <a:srgbClr val="1A2B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5800" y="5358384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REPORTING, AUDIT &amp; SUPPORT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108960" y="5495544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108960" y="5495544"/>
            <a:ext cx="1642811" cy="54864"/>
          </a:xfrm>
          <a:prstGeom prst="rect">
            <a:avLst/>
          </a:prstGeom>
          <a:solidFill>
            <a:srgbClr val="1A2B26"/>
          </a:solidFill>
          <a:ln w="12700">
            <a:solidFill>
              <a:srgbClr val="1A2B2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18688" y="5586984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IPSAS Reports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4797491" y="5495544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97491" y="5495544"/>
            <a:ext cx="1642811" cy="54864"/>
          </a:xfrm>
          <a:prstGeom prst="rect">
            <a:avLst/>
          </a:prstGeom>
          <a:solidFill>
            <a:srgbClr val="1A2B26"/>
          </a:solidFill>
          <a:ln w="12700">
            <a:solidFill>
              <a:srgbClr val="1A2B2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07219" y="5586984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GFS 2014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6486022" y="5495544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86022" y="5495544"/>
            <a:ext cx="1642811" cy="54864"/>
          </a:xfrm>
          <a:prstGeom prst="rect">
            <a:avLst/>
          </a:prstGeom>
          <a:solidFill>
            <a:srgbClr val="1A2B26"/>
          </a:solidFill>
          <a:ln w="12700">
            <a:solidFill>
              <a:srgbClr val="1A2B2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95750" y="5586984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· SoD · RBAC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8174553" y="5495544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174553" y="5495544"/>
            <a:ext cx="1642811" cy="54864"/>
          </a:xfrm>
          <a:prstGeom prst="rect">
            <a:avLst/>
          </a:prstGeom>
          <a:solidFill>
            <a:srgbClr val="1A2B26"/>
          </a:solidFill>
          <a:ln w="12700">
            <a:solidFill>
              <a:srgbClr val="1A2B2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84281" y="5586984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 &amp; Payroll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9863084" y="5495544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63084" y="5495544"/>
            <a:ext cx="1642811" cy="54864"/>
          </a:xfrm>
          <a:prstGeom prst="rect">
            <a:avLst/>
          </a:prstGeom>
          <a:solidFill>
            <a:srgbClr val="1A2B26"/>
          </a:solidFill>
          <a:ln w="12700">
            <a:solidFill>
              <a:srgbClr val="1A2B2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972812" y="5586984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Assets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0" kern="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 ·  Briefing to the Office of the Accountant General, Delta State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SINGLE ACCOUNT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consolidated view of every Naira held in the State treasury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Treasury Single Account — whole-of-government cash visibility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852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 hierarchy in Quot PSA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74520" y="2514600"/>
            <a:ext cx="3108960" cy="64008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514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Delta State Master TSA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29000" y="3154680"/>
            <a:ext cx="0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3566160"/>
            <a:ext cx="4754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40180" y="356616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749040"/>
            <a:ext cx="1143000" cy="548640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490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Finance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40180" y="4297680"/>
            <a:ext cx="0" cy="137160"/>
          </a:xfrm>
          <a:prstGeom prst="line">
            <a:avLst/>
          </a:prstGeom>
          <a:noFill/>
          <a:ln w="12700">
            <a:solidFill>
              <a:srgbClr val="D6CF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434840"/>
            <a:ext cx="960120" cy="292608"/>
          </a:xfrm>
          <a:prstGeom prst="rect">
            <a:avLst/>
          </a:prstGeom>
          <a:solidFill>
            <a:srgbClr val="F7F4ED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4348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Sub-Acct 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440180" y="4297680"/>
            <a:ext cx="0" cy="548640"/>
          </a:xfrm>
          <a:prstGeom prst="line">
            <a:avLst/>
          </a:prstGeom>
          <a:noFill/>
          <a:ln w="12700">
            <a:solidFill>
              <a:srgbClr val="D6CF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4846320"/>
            <a:ext cx="960120" cy="292608"/>
          </a:xfrm>
          <a:prstGeom prst="rect">
            <a:avLst/>
          </a:prstGeom>
          <a:solidFill>
            <a:srgbClr val="F7F4ED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846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Sub-Acct 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674620" y="356616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03120" y="3749040"/>
            <a:ext cx="1143000" cy="548640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0" y="37490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MDAs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74620" y="4297680"/>
            <a:ext cx="0" cy="137160"/>
          </a:xfrm>
          <a:prstGeom prst="line">
            <a:avLst/>
          </a:prstGeom>
          <a:noFill/>
          <a:ln w="12700">
            <a:solidFill>
              <a:srgbClr val="D6CF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94560" y="4434840"/>
            <a:ext cx="960120" cy="292608"/>
          </a:xfrm>
          <a:prstGeom prst="rect">
            <a:avLst/>
          </a:prstGeom>
          <a:solidFill>
            <a:srgbClr val="F7F4ED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44348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Sub-Acct 1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674620" y="4297680"/>
            <a:ext cx="0" cy="548640"/>
          </a:xfrm>
          <a:prstGeom prst="line">
            <a:avLst/>
          </a:prstGeom>
          <a:noFill/>
          <a:ln w="12700">
            <a:solidFill>
              <a:srgbClr val="D6CF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4846320"/>
            <a:ext cx="960120" cy="292608"/>
          </a:xfrm>
          <a:prstGeom prst="rect">
            <a:avLst/>
          </a:prstGeom>
          <a:solidFill>
            <a:srgbClr val="F7F4ED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94560" y="4846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Sub-Acct 2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909060" y="356616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3749040"/>
            <a:ext cx="1143000" cy="548640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37490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&amp; Housing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909060" y="4297680"/>
            <a:ext cx="0" cy="137160"/>
          </a:xfrm>
          <a:prstGeom prst="line">
            <a:avLst/>
          </a:prstGeom>
          <a:noFill/>
          <a:ln w="12700">
            <a:solidFill>
              <a:srgbClr val="D6CF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29000" y="4434840"/>
            <a:ext cx="960120" cy="292608"/>
          </a:xfrm>
          <a:prstGeom prst="rect">
            <a:avLst/>
          </a:prstGeom>
          <a:solidFill>
            <a:srgbClr val="F7F4ED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44348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Sub-Acct 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909060" y="4297680"/>
            <a:ext cx="0" cy="548640"/>
          </a:xfrm>
          <a:prstGeom prst="line">
            <a:avLst/>
          </a:prstGeom>
          <a:noFill/>
          <a:ln w="12700">
            <a:solidFill>
              <a:srgbClr val="D6CF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29000" y="4846320"/>
            <a:ext cx="960120" cy="292608"/>
          </a:xfrm>
          <a:prstGeom prst="rect">
            <a:avLst/>
          </a:prstGeom>
          <a:solidFill>
            <a:srgbClr val="F7F4ED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29000" y="4846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Sub-Acct 2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143500" y="356616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0" y="3749040"/>
            <a:ext cx="1143000" cy="548640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37490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MDAs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143500" y="4297680"/>
            <a:ext cx="0" cy="137160"/>
          </a:xfrm>
          <a:prstGeom prst="line">
            <a:avLst/>
          </a:prstGeom>
          <a:noFill/>
          <a:ln w="12700">
            <a:solidFill>
              <a:srgbClr val="D6CF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4434840"/>
            <a:ext cx="960120" cy="292608"/>
          </a:xfrm>
          <a:prstGeom prst="rect">
            <a:avLst/>
          </a:prstGeom>
          <a:solidFill>
            <a:srgbClr val="F7F4ED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44348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Sub-Acct 1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143500" y="4297680"/>
            <a:ext cx="0" cy="548640"/>
          </a:xfrm>
          <a:prstGeom prst="line">
            <a:avLst/>
          </a:prstGeom>
          <a:noFill/>
          <a:ln w="12700">
            <a:solidFill>
              <a:srgbClr val="D6CF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4846320"/>
            <a:ext cx="960120" cy="292608"/>
          </a:xfrm>
          <a:prstGeom prst="rect">
            <a:avLst/>
          </a:prstGeom>
          <a:solidFill>
            <a:srgbClr val="F7F4ED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4846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Sub-Acct 2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31520" y="52120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MDA sub-account reconciles to the master daily — no shadow ledgers.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116775" y="1828800"/>
            <a:ext cx="4572000" cy="420624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91095" y="1965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Quot PSA provides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45375" y="2404872"/>
            <a:ext cx="292608" cy="292608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2" y="2470709"/>
            <a:ext cx="160934" cy="160934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7756855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MDA balances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7756855" y="2606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position per sub-account, refreshed on every payment.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7345375" y="3118104"/>
            <a:ext cx="292608" cy="292608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5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212" y="3183941"/>
            <a:ext cx="160934" cy="160934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7756855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TSA → GL</a:t>
            </a:r>
            <a:endParaRPr lang="en-US" sz="1200" dirty="0"/>
          </a:p>
        </p:txBody>
      </p:sp>
      <p:sp>
        <p:nvSpPr>
          <p:cNvPr id="59" name="Text 55"/>
          <p:cNvSpPr/>
          <p:nvPr/>
        </p:nvSpPr>
        <p:spPr>
          <a:xfrm>
            <a:off x="7756855" y="33192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Movements resolve to the right GL account so cash-flow statements reconcile exactly.</a:t>
            </a:r>
            <a:endParaRPr lang="en-US" sz="1000" dirty="0"/>
          </a:p>
        </p:txBody>
      </p:sp>
      <p:sp>
        <p:nvSpPr>
          <p:cNvPr id="60" name="Shape 56"/>
          <p:cNvSpPr/>
          <p:nvPr/>
        </p:nvSpPr>
        <p:spPr>
          <a:xfrm>
            <a:off x="7345375" y="3831336"/>
            <a:ext cx="292608" cy="292608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6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212" y="3897173"/>
            <a:ext cx="160934" cy="160934"/>
          </a:xfrm>
          <a:prstGeom prst="rect">
            <a:avLst/>
          </a:prstGeom>
        </p:spPr>
      </p:pic>
      <p:sp>
        <p:nvSpPr>
          <p:cNvPr id="62" name="Text 57"/>
          <p:cNvSpPr/>
          <p:nvPr/>
        </p:nvSpPr>
        <p:spPr>
          <a:xfrm>
            <a:off x="7756855" y="3758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Race-safe bank reconciliation</a:t>
            </a:r>
            <a:endParaRPr lang="en-US" sz="1200" dirty="0"/>
          </a:p>
        </p:txBody>
      </p:sp>
      <p:sp>
        <p:nvSpPr>
          <p:cNvPr id="63" name="Text 58"/>
          <p:cNvSpPr/>
          <p:nvPr/>
        </p:nvSpPr>
        <p:spPr>
          <a:xfrm>
            <a:off x="7756855" y="40325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auto-match against CBN with row-level locking. No double-match.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7345375" y="4544568"/>
            <a:ext cx="292608" cy="292608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1212" y="4610405"/>
            <a:ext cx="160934" cy="160934"/>
          </a:xfrm>
          <a:prstGeom prst="rect">
            <a:avLst/>
          </a:prstGeom>
        </p:spPr>
      </p:pic>
      <p:sp>
        <p:nvSpPr>
          <p:cNvPr id="66" name="Text 60"/>
          <p:cNvSpPr/>
          <p:nvPr/>
        </p:nvSpPr>
        <p:spPr>
          <a:xfrm>
            <a:off x="7756855" y="4471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sync via signals</a:t>
            </a:r>
            <a:endParaRPr lang="en-US" sz="1200" dirty="0"/>
          </a:p>
        </p:txBody>
      </p:sp>
      <p:sp>
        <p:nvSpPr>
          <p:cNvPr id="67" name="Text 61"/>
          <p:cNvSpPr/>
          <p:nvPr/>
        </p:nvSpPr>
        <p:spPr>
          <a:xfrm>
            <a:off x="7756855" y="47457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only on confirmed payment events — never on read endpoints.</a:t>
            </a:r>
            <a:endParaRPr lang="en-US" sz="1000" dirty="0"/>
          </a:p>
        </p:txBody>
      </p:sp>
      <p:sp>
        <p:nvSpPr>
          <p:cNvPr id="68" name="Shape 62"/>
          <p:cNvSpPr/>
          <p:nvPr/>
        </p:nvSpPr>
        <p:spPr>
          <a:xfrm>
            <a:off x="7345375" y="5257800"/>
            <a:ext cx="292608" cy="292608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6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12" y="5323637"/>
            <a:ext cx="160934" cy="160934"/>
          </a:xfrm>
          <a:prstGeom prst="rect">
            <a:avLst/>
          </a:prstGeom>
        </p:spPr>
      </p:pic>
      <p:sp>
        <p:nvSpPr>
          <p:cNvPr id="70" name="Text 63"/>
          <p:cNvSpPr/>
          <p:nvPr/>
        </p:nvSpPr>
        <p:spPr>
          <a:xfrm>
            <a:off x="7756855" y="5184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dashboard</a:t>
            </a:r>
            <a:endParaRPr lang="en-US" sz="1200" dirty="0"/>
          </a:p>
        </p:txBody>
      </p:sp>
      <p:sp>
        <p:nvSpPr>
          <p:cNvPr id="71" name="Text 64"/>
          <p:cNvSpPr/>
          <p:nvPr/>
        </p:nvSpPr>
        <p:spPr>
          <a:xfrm>
            <a:off x="7756855" y="5458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Accountant-General — drill-down by MDA, fund, and sub-account.</a:t>
            </a:r>
            <a:endParaRPr lang="en-US" sz="1000" dirty="0"/>
          </a:p>
        </p:txBody>
      </p:sp>
      <p:sp>
        <p:nvSpPr>
          <p:cNvPr id="72" name="Shape 65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73" name="Text 66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74" name="Text 67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0" kern="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 ·  Briefing to the Office of the Accountant General, Delta State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CONTROL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expenditure pipeline from MTEF to payment voucher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Appropriation is law — and it is enforced before the order is placed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82620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74520"/>
            <a:ext cx="1826209" cy="32918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11096"/>
            <a:ext cx="1643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187425" y="2331720"/>
            <a:ext cx="457200" cy="457200"/>
          </a:xfrm>
          <a:prstGeom prst="ellipse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295" y="243459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2834640"/>
            <a:ext cx="16433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MTEF Envelope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3044952"/>
            <a:ext cx="16433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sector ceilings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374849" y="1874520"/>
            <a:ext cx="182620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374849" y="1874520"/>
            <a:ext cx="1826209" cy="32918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66289" y="1911096"/>
            <a:ext cx="1643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059354" y="2331720"/>
            <a:ext cx="457200" cy="457200"/>
          </a:xfrm>
          <a:prstGeom prst="ellipse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224" y="2434590"/>
            <a:ext cx="251460" cy="2514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466289" y="2834640"/>
            <a:ext cx="16433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Appropriation Act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2466289" y="3044952"/>
            <a:ext cx="16433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Enacted, line-locked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246778" y="1874520"/>
            <a:ext cx="182620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246778" y="1874520"/>
            <a:ext cx="1826209" cy="32918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338218" y="1911096"/>
            <a:ext cx="1643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931283" y="2331720"/>
            <a:ext cx="457200" cy="457200"/>
          </a:xfrm>
          <a:prstGeom prst="ellipse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153" y="2434590"/>
            <a:ext cx="251460" cy="2514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338218" y="2834640"/>
            <a:ext cx="16433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 / AIE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4338218" y="3044952"/>
            <a:ext cx="16433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to MDA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118708" y="1874520"/>
            <a:ext cx="182620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118708" y="1874520"/>
            <a:ext cx="1826209" cy="32918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210148" y="1911096"/>
            <a:ext cx="1643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6803212" y="2331720"/>
            <a:ext cx="457200" cy="457200"/>
          </a:xfrm>
          <a:prstGeom prst="ellipse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082" y="2434590"/>
            <a:ext cx="251460" cy="2514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210148" y="2834640"/>
            <a:ext cx="16433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&amp; LPO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6210148" y="3044952"/>
            <a:ext cx="16433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encumbered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7990637" y="1874520"/>
            <a:ext cx="182620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990637" y="1874520"/>
            <a:ext cx="1826209" cy="32918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8082077" y="1911096"/>
            <a:ext cx="1643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8675141" y="2331720"/>
            <a:ext cx="457200" cy="457200"/>
          </a:xfrm>
          <a:prstGeom prst="ellipse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011" y="2434590"/>
            <a:ext cx="251460" cy="25146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8082077" y="2834640"/>
            <a:ext cx="16433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/ IPC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8082077" y="3044952"/>
            <a:ext cx="16433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match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9862566" y="1874520"/>
            <a:ext cx="182620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9862566" y="1874520"/>
            <a:ext cx="1826209" cy="32918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9954006" y="1911096"/>
            <a:ext cx="1643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10547071" y="2331720"/>
            <a:ext cx="457200" cy="457200"/>
          </a:xfrm>
          <a:prstGeom prst="ellipse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9941" y="2434590"/>
            <a:ext cx="251460" cy="25146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9954006" y="2834640"/>
            <a:ext cx="16433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&amp; Mandate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9954006" y="3044952"/>
            <a:ext cx="16433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to TSA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502920" y="3611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the system enforces</a:t>
            </a:r>
            <a:endParaRPr lang="en-US" sz="1200" dirty="0"/>
          </a:p>
        </p:txBody>
      </p:sp>
      <p:sp>
        <p:nvSpPr>
          <p:cNvPr id="50" name="Shape 42"/>
          <p:cNvSpPr/>
          <p:nvPr/>
        </p:nvSpPr>
        <p:spPr>
          <a:xfrm>
            <a:off x="502920" y="3977640"/>
            <a:ext cx="11185855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502920" y="3977640"/>
            <a:ext cx="2377440" cy="32918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685800" y="39776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Pre-commitment</a:t>
            </a:r>
            <a:endParaRPr lang="en-US" sz="1150" dirty="0"/>
          </a:p>
        </p:txBody>
      </p:sp>
      <p:sp>
        <p:nvSpPr>
          <p:cNvPr id="53" name="Text 45"/>
          <p:cNvSpPr/>
          <p:nvPr/>
        </p:nvSpPr>
        <p:spPr>
          <a:xfrm>
            <a:off x="3108960" y="3977640"/>
            <a:ext cx="8488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line balance ≥ commitment   ·   Warrant unexpired   ·   Fund matches</a:t>
            </a:r>
            <a:endParaRPr lang="en-US" sz="1100" dirty="0"/>
          </a:p>
        </p:txBody>
      </p:sp>
      <p:sp>
        <p:nvSpPr>
          <p:cNvPr id="54" name="Shape 46"/>
          <p:cNvSpPr/>
          <p:nvPr/>
        </p:nvSpPr>
        <p:spPr>
          <a:xfrm>
            <a:off x="502920" y="4361688"/>
            <a:ext cx="11185855" cy="329184"/>
          </a:xfrm>
          <a:prstGeom prst="rect">
            <a:avLst/>
          </a:prstGeom>
          <a:solidFill>
            <a:srgbClr val="EFEAD9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502920" y="4361688"/>
            <a:ext cx="2377440" cy="32918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685800" y="43616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 enforcement</a:t>
            </a:r>
            <a:endParaRPr lang="en-US" sz="1150" dirty="0"/>
          </a:p>
        </p:txBody>
      </p:sp>
      <p:sp>
        <p:nvSpPr>
          <p:cNvPr id="57" name="Text 49"/>
          <p:cNvSpPr/>
          <p:nvPr/>
        </p:nvSpPr>
        <p:spPr>
          <a:xfrm>
            <a:off x="3108960" y="4361688"/>
            <a:ext cx="8488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 ≠ approver on every approval action — centrally evaluated</a:t>
            </a:r>
            <a:endParaRPr lang="en-US" sz="1100" dirty="0"/>
          </a:p>
        </p:txBody>
      </p:sp>
      <p:sp>
        <p:nvSpPr>
          <p:cNvPr id="58" name="Shape 50"/>
          <p:cNvSpPr/>
          <p:nvPr/>
        </p:nvSpPr>
        <p:spPr>
          <a:xfrm>
            <a:off x="502920" y="4745736"/>
            <a:ext cx="11185855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502920" y="4745736"/>
            <a:ext cx="2377440" cy="32918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685800" y="47457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control</a:t>
            </a:r>
            <a:endParaRPr lang="en-US" sz="1150" dirty="0"/>
          </a:p>
        </p:txBody>
      </p:sp>
      <p:sp>
        <p:nvSpPr>
          <p:cNvPr id="61" name="Text 53"/>
          <p:cNvSpPr/>
          <p:nvPr/>
        </p:nvSpPr>
        <p:spPr>
          <a:xfrm>
            <a:off x="3108960" y="4745736"/>
            <a:ext cx="8488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and reversing both validate fiscal-period open status</a:t>
            </a:r>
            <a:endParaRPr lang="en-US" sz="1100" dirty="0"/>
          </a:p>
        </p:txBody>
      </p:sp>
      <p:sp>
        <p:nvSpPr>
          <p:cNvPr id="62" name="Shape 54"/>
          <p:cNvSpPr/>
          <p:nvPr/>
        </p:nvSpPr>
        <p:spPr>
          <a:xfrm>
            <a:off x="502920" y="5129784"/>
            <a:ext cx="11185855" cy="329184"/>
          </a:xfrm>
          <a:prstGeom prst="rect">
            <a:avLst/>
          </a:prstGeom>
          <a:solidFill>
            <a:srgbClr val="EFEAD9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502920" y="5129784"/>
            <a:ext cx="2377440" cy="32918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64" name="Text 56"/>
          <p:cNvSpPr/>
          <p:nvPr/>
        </p:nvSpPr>
        <p:spPr>
          <a:xfrm>
            <a:off x="685800" y="51297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integrity</a:t>
            </a:r>
            <a:endParaRPr lang="en-US" sz="1150" dirty="0"/>
          </a:p>
        </p:txBody>
      </p:sp>
      <p:sp>
        <p:nvSpPr>
          <p:cNvPr id="65" name="Text 57"/>
          <p:cNvSpPr/>
          <p:nvPr/>
        </p:nvSpPr>
        <p:spPr>
          <a:xfrm>
            <a:off x="3108960" y="5129784"/>
            <a:ext cx="8488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(source_module, source_document_id) — duplicate posting impossible</a:t>
            </a:r>
            <a:endParaRPr lang="en-US" sz="1100" dirty="0"/>
          </a:p>
        </p:txBody>
      </p:sp>
      <p:sp>
        <p:nvSpPr>
          <p:cNvPr id="66" name="Shape 58"/>
          <p:cNvSpPr/>
          <p:nvPr/>
        </p:nvSpPr>
        <p:spPr>
          <a:xfrm>
            <a:off x="502920" y="5513832"/>
            <a:ext cx="11185855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502920" y="5513832"/>
            <a:ext cx="2377440" cy="32918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68" name="Text 60"/>
          <p:cNvSpPr/>
          <p:nvPr/>
        </p:nvSpPr>
        <p:spPr>
          <a:xfrm>
            <a:off x="685800" y="55138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locking</a:t>
            </a:r>
            <a:endParaRPr lang="en-US" sz="1150" dirty="0"/>
          </a:p>
        </p:txBody>
      </p:sp>
      <p:sp>
        <p:nvSpPr>
          <p:cNvPr id="69" name="Text 61"/>
          <p:cNvSpPr/>
          <p:nvPr/>
        </p:nvSpPr>
        <p:spPr>
          <a:xfrm>
            <a:off x="3108960" y="5513832"/>
            <a:ext cx="8488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select_for_update on warrants, IPCs, mobilisation, bulk approvals</a:t>
            </a:r>
            <a:endParaRPr lang="en-US" sz="1100" dirty="0"/>
          </a:p>
        </p:txBody>
      </p:sp>
      <p:sp>
        <p:nvSpPr>
          <p:cNvPr id="70" name="Shape 62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71" name="Text 63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72" name="Text 64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0" kern="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 ·  Briefing to the Office of the Accountant General, Delta State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IPCs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lifecycle of a State capital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contracts, IPCs, retention and closure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52120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74520"/>
            <a:ext cx="73152" cy="42062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574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lifecycle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560320"/>
            <a:ext cx="274320" cy="27432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697480" y="25146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Parties, ceiling, BoQ, defects-liability period, attached documents.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063240"/>
            <a:ext cx="274320" cy="27432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97480" y="3017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paid; recovery schedule tracked across subsequent IPCs.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566160"/>
            <a:ext cx="274320" cy="27432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" y="3520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697480" y="3520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books locked once cited — no retroactive edits.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4069080"/>
            <a:ext cx="274320" cy="27432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697480" y="4023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Payment Certificate raised with row-level locking against double vouchers.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4572000"/>
            <a:ext cx="274320" cy="27432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" y="4526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697480" y="4526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Auto-accrual per IPC; release on completion or DLP expiry.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5074920"/>
            <a:ext cx="274320" cy="27432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074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" y="5029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697480" y="5029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Ceiling-increasing orders re-check appropriation availability.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" y="5577840"/>
            <a:ext cx="274320" cy="27432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577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" y="5532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2697480" y="5532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Two-person SoD; cascade settles outstanding IPCs and retention.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89320" y="1874520"/>
            <a:ext cx="5699455" cy="420624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2057400"/>
            <a:ext cx="5242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prevents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17920" y="2514600"/>
            <a:ext cx="524225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Double-vouchering on the same IPC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edits after a measurement is billed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orders that quietly breach the appropriation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released before defects-liability expires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closure by the same officer who raised the IPC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Mobilisation advance forgotten and never recovered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0" kern="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 ·  Briefing to the Office of the Accountant General, Delta State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IPSAS, GFS 2014, and the OAGF / OAuGF returns calendar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Nineteen statutory reports, ready on day one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363717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74520"/>
            <a:ext cx="3637178" cy="59436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74520"/>
            <a:ext cx="327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IPSAS Financial Statements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317997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Financial Position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Financial Performance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Cash Flows (direct method)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Changes in Net Assets / Equity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to the Financial Statements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77258" y="1874520"/>
            <a:ext cx="363717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7258" y="1874520"/>
            <a:ext cx="3637178" cy="594360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0138" y="1874520"/>
            <a:ext cx="327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Execution &amp; GFS 2014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05858" y="2651760"/>
            <a:ext cx="317997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vs. Actual (GFS 2014)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Performance Report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 Utilisation Report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Report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Report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Classification (COFOG)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Performance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51597" y="1874520"/>
            <a:ext cx="363717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1597" y="1874520"/>
            <a:ext cx="3637178" cy="594360"/>
          </a:xfrm>
          <a:prstGeom prst="rect">
            <a:avLst/>
          </a:prstGeom>
          <a:solidFill>
            <a:srgbClr val="A88051"/>
          </a:solidFill>
          <a:ln w="12700">
            <a:solidFill>
              <a:srgbClr val="A880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34477" y="1874520"/>
            <a:ext cx="327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Treasury, Fund &amp; Revenue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80197" y="2651760"/>
            <a:ext cx="317997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 Cash Position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(CRF / Dev Fund / IGR)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Performance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XBRL &amp; Statutory XML exports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Balance, P&amp;L, Balance Sheet, Cash Flow (managerial pack)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Snapshot &amp; cache layer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0" kern="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 ·  Briefing to the Office of the Accountant General, Delta State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AUDIT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the threat model of a State treasury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Forensic-grade audit and Segregation of Duties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5501488" cy="2080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74520"/>
            <a:ext cx="5501488" cy="64008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2068830"/>
            <a:ext cx="251460" cy="2514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947672"/>
            <a:ext cx="449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325880" y="2167128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&amp; cookie-based auth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31520" y="2697480"/>
            <a:ext cx="50442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MFA with fails-closed enrollment evaluation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cookie sessions with configurable lifetime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role-based access control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 banner when superadmin acts as tenant user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87288" y="1874520"/>
            <a:ext cx="5501488" cy="2080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87288" y="1874520"/>
            <a:ext cx="5501488" cy="64008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15888" y="1965960"/>
            <a:ext cx="457200" cy="45720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758" y="2068830"/>
            <a:ext cx="251460" cy="2514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10248" y="1947672"/>
            <a:ext cx="449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OF DUTIES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010248" y="2167128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blocked centrally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415888" y="2697480"/>
            <a:ext cx="50442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 cannot approve the same document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SoD evaluator across all modules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SoDViolation maps to HTTP 403 globally — never silently allowed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declarative and audit-loggable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02920" y="4137660"/>
            <a:ext cx="5501488" cy="2080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2920" y="4137660"/>
            <a:ext cx="5501488" cy="64008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229100"/>
            <a:ext cx="457200" cy="45720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4331970"/>
            <a:ext cx="251460" cy="2514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25880" y="4210812"/>
            <a:ext cx="449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325880" y="4430268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silent failures, no race conditions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731520" y="4960620"/>
            <a:ext cx="50442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index on (source_module, source_document_id)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select_for_update on warrants, IPCs, mobilisation, bulk approvals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gate on every post / reverse / unpost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Magic-byte file-type validation on document uploads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187288" y="4137660"/>
            <a:ext cx="5501488" cy="2080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187288" y="4137660"/>
            <a:ext cx="5501488" cy="64008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415888" y="4229100"/>
            <a:ext cx="457200" cy="45720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758" y="4331970"/>
            <a:ext cx="251460" cy="2514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010248" y="4210812"/>
            <a:ext cx="449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7010248" y="4430268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attributable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6415888" y="4960620"/>
            <a:ext cx="50442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audit-trail service writes immutable records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Audit page for manual edits and account overrides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page surfaces failures and uncleared items live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logging for SIEM ingestion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0" kern="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 ·  Briefing to the Office of the Accountant General, Delta State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Schema-per-tenant on PostgreSQL, not application-level filtering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every MDA — with absolute data isolation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State MDA is provisioned as a tenant with its own isolated PostgreSQL schema. The Office of the Accountant General supervises across MDAs through the superadmin console while each MDA only ever sees its own data.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360669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017520"/>
            <a:ext cx="3606698" cy="128016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17649" y="3291840"/>
            <a:ext cx="777240" cy="77724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2528" y="3466719"/>
            <a:ext cx="427482" cy="42748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443484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isolation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" y="489204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enforces the boundary, not the app. A bug in module code cannot leak data from one MDA into another.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92498" y="3017520"/>
            <a:ext cx="360669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2498" y="3017520"/>
            <a:ext cx="3606698" cy="128016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07228" y="3291840"/>
            <a:ext cx="777240" cy="77724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107" y="3466719"/>
            <a:ext cx="427482" cy="4274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75378" y="443484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Per-MDA provisioning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475378" y="489204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 new MDA in 30 minutes. Defaults — currencies, NCoA segments, approval templates — seeded from JSON.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082077" y="3017520"/>
            <a:ext cx="360669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82077" y="3017520"/>
            <a:ext cx="3606698" cy="128016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496806" y="3291840"/>
            <a:ext cx="777240" cy="77724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1685" y="3466719"/>
            <a:ext cx="427482" cy="42748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64957" y="443484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Cross-MDA visibility for OAG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264957" y="489204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superadmin console for the Accountant General to monitor, impersonate, audit, and report across every MDA.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0" kern="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 ·  Briefing to the Office of the Accountant General, Delta State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tools that Delta State IT can own confidently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modern, supportable stack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118585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74520"/>
            <a:ext cx="2103120" cy="45720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1874520"/>
            <a:ext cx="8808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5.2 LTS · Django REST Framework 3.17 · PostgreSQL 15 · django-tenants 3.10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77440"/>
            <a:ext cx="11185855" cy="457200"/>
          </a:xfrm>
          <a:prstGeom prst="rect">
            <a:avLst/>
          </a:prstGeom>
          <a:solidFill>
            <a:srgbClr val="EFEAD9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377440"/>
            <a:ext cx="2103120" cy="45720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88920" y="2377440"/>
            <a:ext cx="8808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7 · TypeScript · Ant Design v6 · TanStack Query · Recharts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1118585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880360"/>
            <a:ext cx="2103120" cy="45720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88920" y="2880360"/>
            <a:ext cx="8808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 Token + SimpleJWT · TOTP MFA · HttpOnly cookie sessions · per-tenant RBAC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383280"/>
            <a:ext cx="11185855" cy="457200"/>
          </a:xfrm>
          <a:prstGeom prst="rect">
            <a:avLst/>
          </a:prstGeom>
          <a:solidFill>
            <a:srgbClr val="EFEAD9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83280"/>
            <a:ext cx="2103120" cy="45720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88920" y="3383280"/>
            <a:ext cx="8808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 — depreciation runs, statutory report generation, payment cascades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886200"/>
            <a:ext cx="1118585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886200"/>
            <a:ext cx="2103120" cy="45720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88920" y="3886200"/>
            <a:ext cx="8808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drf-spectacular — live OpenAPI schema at /api/schema/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389120"/>
            <a:ext cx="11185855" cy="457200"/>
          </a:xfrm>
          <a:prstGeom prst="rect">
            <a:avLst/>
          </a:prstGeom>
          <a:solidFill>
            <a:srgbClr val="EFEAD9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4389120"/>
            <a:ext cx="2103120" cy="45720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389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88920" y="4389120"/>
            <a:ext cx="8808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· Nginx · PgBouncer pooling · Docker · AlmaLinux production playbook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4892040"/>
            <a:ext cx="1118585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892040"/>
            <a:ext cx="2103120" cy="45720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892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88920" y="4892040"/>
            <a:ext cx="8808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logging · DRF exception handler · health endpoints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5623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options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5989320"/>
            <a:ext cx="27278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6080760"/>
            <a:ext cx="2453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6373368"/>
            <a:ext cx="2453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Delta State Government data centre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22244" y="5989320"/>
            <a:ext cx="27278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59404" y="6080760"/>
            <a:ext cx="2453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cloud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459404" y="6373368"/>
            <a:ext cx="2453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State-managed VPC with network isolation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41568" y="5989320"/>
            <a:ext cx="27278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78728" y="6080760"/>
            <a:ext cx="2453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SaaS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78728" y="6373368"/>
            <a:ext cx="2453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Dplux-hosted with DR included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960891" y="5989320"/>
            <a:ext cx="27278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98051" y="6080760"/>
            <a:ext cx="2453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098051" y="6373368"/>
            <a:ext cx="2453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on-prem, reporting in cloud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0" kern="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 ·  Briefing to the Office of the Accountant General, Delta State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land working production for the Accountant General first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phased, risk-managed rollout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828800" cy="585216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0" kern="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1720" y="1874520"/>
            <a:ext cx="9357055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9293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Fit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15000" y="1929384"/>
            <a:ext cx="5836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at the OAG. Walk through Delta State chart of accounts, fiscal calendar, current IFMIS, MDA inventory, TSA hierarchy, and reporting pack.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532888"/>
            <a:ext cx="1828800" cy="585216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32888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0" kern="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31720" y="2532888"/>
            <a:ext cx="9357055" cy="585216"/>
          </a:xfrm>
          <a:prstGeom prst="rect">
            <a:avLst/>
          </a:prstGeom>
          <a:solidFill>
            <a:srgbClr val="EFEAD9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25877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Migration Design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715000" y="2587752"/>
            <a:ext cx="5836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NCoA mapping, fund taxonomy, approval templates per MDA, opening balances strategy, integration list with CBN / FIRS / Budget Office.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191256"/>
            <a:ext cx="1828800" cy="585216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191256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0" kern="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31720" y="3191256"/>
            <a:ext cx="9357055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— Office of the Accountant General + 3 MDAs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715000" y="3246120"/>
            <a:ext cx="5836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production. Run treasury, AP, AR, GL, and TSA in parallel with the incumbent system. Daily reconciliation and acceptance testing.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849624"/>
            <a:ext cx="1828800" cy="585216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49624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0" kern="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13–18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331720" y="3849624"/>
            <a:ext cx="9357055" cy="585216"/>
          </a:xfrm>
          <a:prstGeom prst="rect">
            <a:avLst/>
          </a:prstGeom>
          <a:solidFill>
            <a:srgbClr val="EFEAD9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39044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MDA Roll-out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715000" y="3904488"/>
            <a:ext cx="5836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remaining MDAs in waves of five. Each wave gets a fortnight of close support before the next wave begins.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4507992"/>
            <a:ext cx="1828800" cy="585216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507992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0" kern="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19–24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31720" y="4507992"/>
            <a:ext cx="9357055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45628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Reporting Cut-over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715000" y="4562856"/>
            <a:ext cx="5836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IPSAS / GFS / OAGF return generated from Quot PSA. Auditor-General walkthrough. Disaster-recovery drill.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5166360"/>
            <a:ext cx="1828800" cy="585216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166360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0" kern="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331720" y="5166360"/>
            <a:ext cx="9357055" cy="585216"/>
          </a:xfrm>
          <a:prstGeom prst="rect">
            <a:avLst/>
          </a:prstGeom>
          <a:solidFill>
            <a:srgbClr val="EFEAD9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14600" y="52212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Support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715000" y="5221224"/>
            <a:ext cx="5836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DR drill, fiscal-year roll-over support, end-of-year close, and platform upgrades.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0" kern="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 ·  Briefing to the Office of the Accountant General, Delta State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weeks. Three MDAs. One unambiguous success criterion.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pilot we propose for Delta State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68580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5740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scope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34640" y="2514600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the Accountant General · Ministry of Finance · two further MDAs of OAG's choosing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01752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in scope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834640" y="3017520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&amp; NCoA · TSA · AP &amp; AR · Bank reconciliation · Statutory reporting (IPSAS Cash Basis)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52044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running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34640" y="3520440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runs alongside the incumbent system for 8 weeks with daily reconciliation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02336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Cut-over criterion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34640" y="4023360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month's OAGF return generated from Quot PSA with zero reconciling differences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52628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34640" y="4526280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OAG staff trained as system administrators · 30 MDA users trained as operators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502920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834640" y="5029200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State Government data centre, or Dplux-hosted private VPC — your choice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53212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834640" y="5532120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Fixed-fee pilot. No additional license cost until the cut-over criterion is independently signed off.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35240" y="1874520"/>
            <a:ext cx="4053535" cy="420624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2057400"/>
            <a:ext cx="3596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Delta State gets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63840" y="2468880"/>
            <a:ext cx="359633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production deployment in 12 weeks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OAGF returns generated by the system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internal team capable of running it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 drill executed, not just documented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that any further MDA can be onboarded into in 30 minutes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4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572000" cy="457200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02920" y="2743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questions.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116775" y="3749040"/>
            <a:ext cx="45720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16775" y="3749040"/>
            <a:ext cx="91440" cy="25603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91095" y="3931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800" kern="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91095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Jacob Osadiaye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91095" y="4663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91095" y="5074920"/>
            <a:ext cx="274320" cy="27432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817" y="5136642"/>
            <a:ext cx="150876" cy="1508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56855" y="5074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osadiaye4real@gmail.com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91095" y="5440680"/>
            <a:ext cx="274320" cy="27432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817" y="5502402"/>
            <a:ext cx="150876" cy="1508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56855" y="5440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request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391095" y="5806440"/>
            <a:ext cx="274320" cy="27432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817" y="5868162"/>
            <a:ext cx="150876" cy="1508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56855" y="58064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github.com/oosadiaye/Quot-PSA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02920" y="3931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briefing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02920" y="42519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Dplux Technologies for the Office of the Accountant General, Delta State Government Secretariat, Asaba.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02920" y="57607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demo and a written proposal are available on request.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Dplux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Quot PSA — Briefing for the Office of the Accountant General, Delta State</dc:title>
  <dc:subject>PptxGenJS Presentation</dc:subject>
  <dc:creator>Dplux Technologies</dc:creator>
  <cp:lastModifiedBy>Dplux Technologies</cp:lastModifiedBy>
  <cp:revision>1</cp:revision>
  <dcterms:created xsi:type="dcterms:W3CDTF">2026-06-01T21:52:46Z</dcterms:created>
  <dcterms:modified xsi:type="dcterms:W3CDTF">2026-06-01T21:52:46Z</dcterms:modified>
</cp:coreProperties>
</file>